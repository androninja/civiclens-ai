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800" b="1">
                <a:solidFill>
                  <a:srgbClr val="0D9488"/>
                </a:solidFill>
                <a:latin typeface="Arial"/>
              </a:defRPr>
            </a:pPr>
            <a:r>
              <a:t>CivicLens AI</a:t>
            </a:r>
            <a:endParaRPr sz="2100">
              <a:latin typeface="Google Sans Flex SemiBold"/>
              <a:ea typeface="Google Sans Flex SemiBold"/>
              <a:cs typeface="Google Sans Flex SemiBold"/>
              <a:sym typeface="Google Sans Flex SemiBold"/>
            </a:endParaRPr>
          </a:p>
          <a:p>
            <a:pPr>
              <a:defRPr sz="1400" b="1">
                <a:solidFill>
                  <a:srgbClr val="0F172A"/>
                </a:solidFill>
              </a:defRPr>
            </a:pPr>
            <a:r>
              <a:t>Next-Gen Multimodal Civic Incident Intelligence &amp; Accountability Platform</a:t>
            </a:r>
          </a:p>
          <a:p>
            <a:pPr>
              <a:defRPr sz="1100" b="1">
                <a:solidFill>
                  <a:srgbClr val="059669"/>
                </a:solidFill>
              </a:defRPr>
            </a:pPr>
            <a:r>
              <a:t>AI Builder Cup 2026 | Track: Sustainability &amp; Social Impact</a:t>
            </a:r>
          </a:p>
          <a:p>
            <a:br/>
            <a:pPr>
              <a:defRPr sz="1200" b="1">
                <a:solidFill>
                  <a:srgbClr val="0F172A"/>
                </a:solidFill>
              </a:defRPr>
            </a:pPr>
            <a:r>
              <a:t>Team Details:</a:t>
            </a:r>
          </a:p>
          <a:p>
            <a:pPr>
              <a:defRPr sz="1100">
                <a:solidFill>
                  <a:srgbClr val="0F172A"/>
                </a:solidFill>
              </a:defRPr>
            </a:pPr>
            <a:r>
              <a:t>• Team Name: CivicLens Innovators</a:t>
            </a:r>
          </a:p>
          <a:p>
            <a:pPr>
              <a:defRPr sz="1100">
                <a:solidFill>
                  <a:srgbClr val="0F172A"/>
                </a:solidFill>
              </a:defRPr>
            </a:pPr>
            <a:r>
              <a:t>• Team Leader Name: Agrim Jain (Lead AI &amp; Cloud Architect / Full-Stack Engineer)</a:t>
            </a:r>
          </a:p>
          <a:p>
            <a:pPr>
              <a:defRPr sz="1050">
                <a:solidFill>
                  <a:srgbClr val="64748B"/>
                </a:solidFill>
              </a:defRPr>
            </a:pPr>
            <a:r>
              <a:t>• Problem Statement: Urban municipal systems suffer from high citizen friction (text-heavy, English-only portals), overwhelming duplicate backlogs for local bodies, lack of automated hazard triage, and systemic 'ghost ticket resolutions' where cases are closed without verifiable photographic ground proof or citizen dispute oversight.</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defRPr>
            </a:pPr>
            <a:r>
              <a:t>Executive Summary &amp; Core Impact</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
        <p:nvSpPr>
          <p:cNvPr id="65" name="Rounded Rectangle 64"/>
          <p:cNvSpPr/>
          <p:nvPr/>
        </p:nvSpPr>
        <p:spPr>
          <a:xfrm>
            <a:off x="457200" y="1280160"/>
            <a:ext cx="393192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DC2626"/>
                </a:solidFill>
              </a:defRPr>
            </a:pPr>
            <a:r>
              <a:t>The Municipal Redressal Breakdown</a:t>
            </a:r>
          </a:p>
          <a:p>
            <a:pPr>
              <a:defRPr sz="1000">
                <a:solidFill>
                  <a:srgbClr val="0F172A"/>
                </a:solidFill>
              </a:defRPr>
            </a:pPr>
            <a:r>
              <a:t>• Citizens Face High Friction: 68% drop-off rate on traditional portals due to rigid forms and language barriers.</a:t>
            </a:r>
          </a:p>
          <a:p>
            <a:pPr>
              <a:defRPr sz="1000">
                <a:solidFill>
                  <a:srgbClr val="0F172A"/>
                </a:solidFill>
              </a:defRPr>
            </a:pPr>
            <a:r>
              <a:t>• Municipalities Paralyzed: Thousands of unstructured, duplicate reports overload triage desks without actionable priority context.</a:t>
            </a:r>
          </a:p>
          <a:p>
            <a:pPr>
              <a:defRPr sz="1000">
                <a:solidFill>
                  <a:srgbClr val="0F172A"/>
                </a:solidFill>
              </a:defRPr>
            </a:pPr>
            <a:r>
              <a:t>• Ghost Ticket Closures: Complaints routinely marked 'resolved' by contractors with zero photographic evidence.</a:t>
            </a:r>
          </a:p>
          <a:p>
            <a:pPr>
              <a:defRPr sz="1000">
                <a:solidFill>
                  <a:srgbClr val="0F172A"/>
                </a:solidFill>
              </a:defRPr>
            </a:pPr>
            <a:r>
              <a:t>• Dangerous Hazards Ignored: Exposed live wires, water contamination, and severe road collapse left unattended for weeks.</a:t>
            </a:r>
          </a:p>
        </p:txBody>
      </p:sp>
      <p:sp>
        <p:nvSpPr>
          <p:cNvPr id="66" name="Rounded Rectangle 65"/>
          <p:cNvSpPr/>
          <p:nvPr/>
        </p:nvSpPr>
        <p:spPr>
          <a:xfrm>
            <a:off x="4572000" y="1280160"/>
            <a:ext cx="411480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59669"/>
                </a:solidFill>
              </a:defRPr>
            </a:pPr>
            <a:r>
              <a:t>The CivicLens AI Transformation</a:t>
            </a:r>
          </a:p>
          <a:p>
            <a:pPr>
              <a:defRPr sz="1000">
                <a:solidFill>
                  <a:srgbClr val="0F172A"/>
                </a:solidFill>
              </a:defRPr>
            </a:pPr>
            <a:r>
              <a:t>• 30-Second Multimodal Ingestion: Instant camera snapshot, regional voice memo in Hindi &amp; 9 languages, and 1-click GPS.</a:t>
            </a:r>
          </a:p>
          <a:p>
            <a:pPr>
              <a:defRPr sz="1000">
                <a:solidFill>
                  <a:srgbClr val="0F172A"/>
                </a:solidFill>
              </a:defRPr>
            </a:pPr>
            <a:r>
              <a:t>• Gemini Multimodal AI: Concurrent audio &amp; image analysis, structured classification, and explainable P1-P4 priority scoring in &lt; 2s.</a:t>
            </a:r>
          </a:p>
          <a:p>
            <a:pPr>
              <a:defRPr sz="1000">
                <a:solidFill>
                  <a:srgbClr val="0F172A"/>
                </a:solidFill>
              </a:defRPr>
            </a:pPr>
            <a:r>
              <a:t>• Deterministic Spatial Deduplication: Haversine (250m) + Jaccard token clustering merges duplicate reports automatically.</a:t>
            </a:r>
          </a:p>
          <a:p>
            <a:pPr>
              <a:defRPr sz="1000">
                <a:solidFill>
                  <a:srgbClr val="0F172A"/>
                </a:solidFill>
              </a:defRPr>
            </a:pPr>
            <a:r>
              <a:t>• Closed-Loop Citizen Veto: Mandatory before-and-after photo proof verified by AI, with 1-click citizen right to reopen unfixed work.</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Brief About the Idea — How CivicLens AI Works</a:t>
            </a:r>
            <a:endParaRPr sz="1600">
              <a:latin typeface="Google Sans Flex Medium"/>
              <a:ea typeface="Google Sans Flex Medium"/>
              <a:cs typeface="Google Sans Flex Medium"/>
              <a:sym typeface="Google Sans Flex Medium"/>
            </a:endParaRPr>
          </a:p>
        </p:txBody>
      </p:sp>
      <p:sp>
        <p:nvSpPr>
          <p:cNvPr id="72" name="Rounded Rectangle 71"/>
          <p:cNvSpPr/>
          <p:nvPr/>
        </p:nvSpPr>
        <p:spPr>
          <a:xfrm>
            <a:off x="457200" y="1280160"/>
            <a:ext cx="393192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D9488"/>
                </a:solidFill>
              </a:defRPr>
            </a:pPr>
            <a:r>
              <a:t>AI-Driven Citizen Empowerment</a:t>
            </a:r>
          </a:p>
          <a:p>
            <a:pPr>
              <a:defRPr sz="950">
                <a:solidFill>
                  <a:srgbClr val="0F172A"/>
                </a:solidFill>
              </a:defRPr>
            </a:pPr>
            <a:r>
              <a:t>• Zero-Typing Experience: Citizens simply point their camera, speak in their native dialect (Hindi, Punjabi, Tamil, etc.), and tap submit.</a:t>
            </a:r>
          </a:p>
          <a:p>
            <a:pPr>
              <a:defRPr sz="950">
                <a:solidFill>
                  <a:srgbClr val="0F172A"/>
                </a:solidFill>
              </a:defRPr>
            </a:pPr>
            <a:r>
              <a:t>• Smart Voice Clarity Nudge: Audio under 4 words or muffled automatically prompts an interactive clarification dialog.</a:t>
            </a:r>
          </a:p>
          <a:p>
            <a:pPr>
              <a:defRPr sz="950">
                <a:solidFill>
                  <a:srgbClr val="0F172A"/>
                </a:solidFill>
              </a:defRPr>
            </a:pPr>
            <a:r>
              <a:t>• Life-Safety Crisis Detection: Detects distress triggers (harassment, abuse, safety) and displays direct 1-click hotlines (14416, 1091, 1098).</a:t>
            </a:r>
          </a:p>
          <a:p>
            <a:pPr>
              <a:defRPr sz="950">
                <a:solidFill>
                  <a:srgbClr val="0F172A"/>
                </a:solidFill>
              </a:defRPr>
            </a:pPr>
            <a:r>
              <a:t>• Transparent Incident Lifecycle: Citizens track repairs in real-time, modify reports, and listen back to their recorded audio notes.</a:t>
            </a:r>
          </a:p>
        </p:txBody>
      </p:sp>
      <p:sp>
        <p:nvSpPr>
          <p:cNvPr id="73" name="Rounded Rectangle 72"/>
          <p:cNvSpPr/>
          <p:nvPr/>
        </p:nvSpPr>
        <p:spPr>
          <a:xfrm>
            <a:off x="4572000" y="1280160"/>
            <a:ext cx="411480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End-to-End Municipal Intelligence</a:t>
            </a:r>
          </a:p>
          <a:p>
            <a:pPr>
              <a:defRPr sz="950">
                <a:solidFill>
                  <a:srgbClr val="0F172A"/>
                </a:solidFill>
              </a:defRPr>
            </a:pPr>
            <a:r>
              <a:t>• Spatial Clustering Engine: Haversine distance (&lt;250m) clusters duplicate complaints to avoid dispatching multiple trucks to the same site.</a:t>
            </a:r>
          </a:p>
          <a:p>
            <a:pPr>
              <a:defRPr sz="950">
                <a:solidFill>
                  <a:srgbClr val="0F172A"/>
                </a:solidFill>
              </a:defRPr>
            </a:pPr>
            <a:r>
              <a:t>• Explainable Priority SLAs: Assigns P1 (Emergency 4-hr) to P4 (Low 7-day) with plain-language technical justifications for municipal crews.</a:t>
            </a:r>
          </a:p>
          <a:p>
            <a:pPr>
              <a:defRPr sz="950">
                <a:solidFill>
                  <a:srgbClr val="0F172A"/>
                </a:solidFill>
              </a:defRPr>
            </a:pPr>
            <a:r>
              <a:t>• Advisory AI Verification: Compares 'before' citizen evidence against 'after' repair photos uploaded by municipal field crews.</a:t>
            </a:r>
          </a:p>
          <a:p>
            <a:pPr>
              <a:defRPr sz="950">
                <a:solidFill>
                  <a:srgbClr val="0F172A"/>
                </a:solidFill>
              </a:defRPr>
            </a:pPr>
            <a:r>
              <a:t>• Citizen Veto Guarantee: Cases cannot be secretly signed off. Citizens hold the final word to dispute and escalate unresolved hazards.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defRPr>
            </a:pPr>
            <a:r>
              <a:t>Opportunities &amp; Competitive Differentiation</a:t>
            </a:r>
            <a:endParaRPr sz="1600">
              <a:latin typeface="Google Sans Flex SemiBold"/>
              <a:ea typeface="Google Sans Flex SemiBold"/>
              <a:cs typeface="Google Sans Flex SemiBold"/>
              <a:sym typeface="Google Sans Flex SemiBold"/>
            </a:endParaRPr>
          </a:p>
        </p:txBody>
      </p:sp>
      <p:graphicFrame>
        <p:nvGraphicFramePr>
          <p:cNvPr id="80" name="Table 79"/>
          <p:cNvGraphicFramePr>
            <a:graphicFrameLocks noGrp="1"/>
          </p:cNvGraphicFramePr>
          <p:nvPr/>
        </p:nvGraphicFramePr>
        <p:xfrm>
          <a:off x="457200" y="1280160"/>
          <a:ext cx="8138160" cy="3017520"/>
        </p:xfrm>
        <a:graphic>
          <a:graphicData uri="http://schemas.openxmlformats.org/drawingml/2006/table">
            <a:tbl>
              <a:tblPr firstRow="1" bandRow="1">
                <a:tableStyleId>{5C22544A-7EE6-4342-B048-85BDC9FD1C3A}</a:tableStyleId>
              </a:tblPr>
              <a:tblGrid>
                <a:gridCol w="1645920"/>
                <a:gridCol w="2011680"/>
                <a:gridCol w="1920240"/>
                <a:gridCol w="2560320"/>
              </a:tblGrid>
              <a:tr h="603504">
                <a:tc>
                  <a:txBody>
                    <a:bodyPr/>
                    <a:lstStyle/>
                    <a:p>
                      <a:pPr>
                        <a:defRPr sz="950" b="1">
                          <a:solidFill>
                            <a:srgbClr val="FFFFFF"/>
                          </a:solidFill>
                        </a:defRPr>
                      </a:pPr>
                      <a:r>
                        <a:t>Dimension</a:t>
                      </a:r>
                    </a:p>
                  </a:txBody>
                  <a:tcPr>
                    <a:solidFill>
                      <a:srgbClr val="0F172A"/>
                    </a:solidFill>
                  </a:tcPr>
                </a:tc>
                <a:tc>
                  <a:txBody>
                    <a:bodyPr/>
                    <a:lstStyle/>
                    <a:p>
                      <a:pPr>
                        <a:defRPr sz="950" b="1">
                          <a:solidFill>
                            <a:srgbClr val="FFFFFF"/>
                          </a:solidFill>
                        </a:defRPr>
                      </a:pPr>
                      <a:r>
                        <a:t>Legacy Portals (Swachhata, 311)</a:t>
                      </a:r>
                    </a:p>
                  </a:txBody>
                  <a:tcPr>
                    <a:solidFill>
                      <a:srgbClr val="0F172A"/>
                    </a:solidFill>
                  </a:tcPr>
                </a:tc>
                <a:tc>
                  <a:txBody>
                    <a:bodyPr/>
                    <a:lstStyle/>
                    <a:p>
                      <a:pPr>
                        <a:defRPr sz="950" b="1">
                          <a:solidFill>
                            <a:srgbClr val="FFFFFF"/>
                          </a:solidFill>
                        </a:defRPr>
                      </a:pPr>
                      <a:r>
                        <a:t>Generic Helpdesk (Zendesk)</a:t>
                      </a:r>
                    </a:p>
                  </a:txBody>
                  <a:tcPr>
                    <a:solidFill>
                      <a:srgbClr val="0F172A"/>
                    </a:solidFill>
                  </a:tcPr>
                </a:tc>
                <a:tc>
                  <a:txBody>
                    <a:bodyPr/>
                    <a:lstStyle/>
                    <a:p>
                      <a:pPr>
                        <a:defRPr sz="950" b="1">
                          <a:solidFill>
                            <a:srgbClr val="FFFFFF"/>
                          </a:solidFill>
                        </a:defRPr>
                      </a:pPr>
                      <a:r>
                        <a:t>CivicLens AI (Our Solution)</a:t>
                      </a:r>
                    </a:p>
                  </a:txBody>
                  <a:tcPr>
                    <a:solidFill>
                      <a:srgbClr val="0D9488"/>
                    </a:solidFill>
                  </a:tcPr>
                </a:tc>
              </a:tr>
              <a:tr h="603504">
                <a:tc>
                  <a:txBody>
                    <a:bodyPr/>
                    <a:lstStyle/>
                    <a:p>
                      <a:pPr>
                        <a:defRPr sz="850" b="0">
                          <a:solidFill>
                            <a:srgbClr val="0F172A"/>
                          </a:solidFill>
                        </a:defRPr>
                      </a:pPr>
                      <a:r>
                        <a:t>Input Modality</a:t>
                      </a:r>
                    </a:p>
                  </a:txBody>
                  <a:tcPr>
                    <a:solidFill>
                      <a:srgbClr val="FFFFFF"/>
                    </a:solidFill>
                  </a:tcPr>
                </a:tc>
                <a:tc>
                  <a:txBody>
                    <a:bodyPr/>
                    <a:lstStyle/>
                    <a:p>
                      <a:pPr>
                        <a:defRPr sz="850" b="0">
                          <a:solidFill>
                            <a:srgbClr val="0F172A"/>
                          </a:solidFill>
                        </a:defRPr>
                      </a:pPr>
                      <a:r>
                        <a:t>Complex text forms, dropdowns, English-centric</a:t>
                      </a:r>
                    </a:p>
                  </a:txBody>
                  <a:tcPr>
                    <a:solidFill>
                      <a:srgbClr val="FFFFFF"/>
                    </a:solidFill>
                  </a:tcPr>
                </a:tc>
                <a:tc>
                  <a:txBody>
                    <a:bodyPr/>
                    <a:lstStyle/>
                    <a:p>
                      <a:pPr>
                        <a:defRPr sz="850" b="0">
                          <a:solidFill>
                            <a:srgbClr val="0F172A"/>
                          </a:solidFill>
                        </a:defRPr>
                      </a:pPr>
                      <a:r>
                        <a:t>Text tickets or email parsers</a:t>
                      </a:r>
                    </a:p>
                  </a:txBody>
                  <a:tcPr>
                    <a:solidFill>
                      <a:srgbClr val="FFFFFF"/>
                    </a:solidFill>
                  </a:tcPr>
                </a:tc>
                <a:tc>
                  <a:txBody>
                    <a:bodyPr/>
                    <a:lstStyle/>
                    <a:p>
                      <a:pPr>
                        <a:defRPr sz="850" b="1">
                          <a:solidFill>
                            <a:srgbClr val="0D9488"/>
                          </a:solidFill>
                        </a:defRPr>
                      </a:pPr>
                      <a:r>
                        <a:t>Camera snapshot, regional voice memo (Hindi/10 langs), 1-click GPS</a:t>
                      </a:r>
                    </a:p>
                  </a:txBody>
                  <a:tcPr>
                    <a:solidFill>
                      <a:srgbClr val="F0FDFA"/>
                    </a:solidFill>
                  </a:tcPr>
                </a:tc>
              </a:tr>
              <a:tr h="603504">
                <a:tc>
                  <a:txBody>
                    <a:bodyPr/>
                    <a:lstStyle/>
                    <a:p>
                      <a:pPr>
                        <a:defRPr sz="850" b="0">
                          <a:solidFill>
                            <a:srgbClr val="0F172A"/>
                          </a:solidFill>
                        </a:defRPr>
                      </a:pPr>
                      <a:r>
                        <a:t>Duplicate Detection</a:t>
                      </a:r>
                    </a:p>
                  </a:txBody>
                  <a:tcPr>
                    <a:solidFill>
                      <a:srgbClr val="FFFFFF"/>
                    </a:solidFill>
                  </a:tcPr>
                </a:tc>
                <a:tc>
                  <a:txBody>
                    <a:bodyPr/>
                    <a:lstStyle/>
                    <a:p>
                      <a:pPr>
                        <a:defRPr sz="850" b="0">
                          <a:solidFill>
                            <a:srgbClr val="0F172A"/>
                          </a:solidFill>
                        </a:defRPr>
                      </a:pPr>
                      <a:r>
                        <a:t>None (separate tickets created for each complaint)</a:t>
                      </a:r>
                    </a:p>
                  </a:txBody>
                  <a:tcPr>
                    <a:solidFill>
                      <a:srgbClr val="FFFFFF"/>
                    </a:solidFill>
                  </a:tcPr>
                </a:tc>
                <a:tc>
                  <a:txBody>
                    <a:bodyPr/>
                    <a:lstStyle/>
                    <a:p>
                      <a:pPr>
                        <a:defRPr sz="850" b="0">
                          <a:solidFill>
                            <a:srgbClr val="0F172A"/>
                          </a:solidFill>
                        </a:defRPr>
                      </a:pPr>
                      <a:r>
                        <a:t>Basic keyword matching on subject</a:t>
                      </a:r>
                    </a:p>
                  </a:txBody>
                  <a:tcPr>
                    <a:solidFill>
                      <a:srgbClr val="FFFFFF"/>
                    </a:solidFill>
                  </a:tcPr>
                </a:tc>
                <a:tc>
                  <a:txBody>
                    <a:bodyPr/>
                    <a:lstStyle/>
                    <a:p>
                      <a:pPr>
                        <a:defRPr sz="850" b="1">
                          <a:solidFill>
                            <a:srgbClr val="0D9488"/>
                          </a:solidFill>
                        </a:defRPr>
                      </a:pPr>
                      <a:r>
                        <a:t>Deterministic Haversine (250m) + Jaccard token clustering</a:t>
                      </a:r>
                    </a:p>
                  </a:txBody>
                  <a:tcPr>
                    <a:solidFill>
                      <a:srgbClr val="F0FDFA"/>
                    </a:solidFill>
                  </a:tcPr>
                </a:tc>
              </a:tr>
              <a:tr h="603504">
                <a:tc>
                  <a:txBody>
                    <a:bodyPr/>
                    <a:lstStyle/>
                    <a:p>
                      <a:pPr>
                        <a:defRPr sz="850" b="0">
                          <a:solidFill>
                            <a:srgbClr val="0F172A"/>
                          </a:solidFill>
                        </a:defRPr>
                      </a:pPr>
                      <a:r>
                        <a:t>Triage &amp; Routing</a:t>
                      </a:r>
                    </a:p>
                  </a:txBody>
                  <a:tcPr>
                    <a:solidFill>
                      <a:srgbClr val="FFFFFF"/>
                    </a:solidFill>
                  </a:tcPr>
                </a:tc>
                <a:tc>
                  <a:txBody>
                    <a:bodyPr/>
                    <a:lstStyle/>
                    <a:p>
                      <a:pPr>
                        <a:defRPr sz="850" b="0">
                          <a:solidFill>
                            <a:srgbClr val="0F172A"/>
                          </a:solidFill>
                        </a:defRPr>
                      </a:pPr>
                      <a:r>
                        <a:t>Manual sorting taking 48-72 hours</a:t>
                      </a:r>
                    </a:p>
                  </a:txBody>
                  <a:tcPr>
                    <a:solidFill>
                      <a:srgbClr val="FFFFFF"/>
                    </a:solidFill>
                  </a:tcPr>
                </a:tc>
                <a:tc>
                  <a:txBody>
                    <a:bodyPr/>
                    <a:lstStyle/>
                    <a:p>
                      <a:pPr>
                        <a:defRPr sz="850" b="0">
                          <a:solidFill>
                            <a:srgbClr val="0F172A"/>
                          </a:solidFill>
                        </a:defRPr>
                      </a:pPr>
                      <a:r>
                        <a:t>Rule-based keyword triggers</a:t>
                      </a:r>
                    </a:p>
                  </a:txBody>
                  <a:tcPr>
                    <a:solidFill>
                      <a:srgbClr val="FFFFFF"/>
                    </a:solidFill>
                  </a:tcPr>
                </a:tc>
                <a:tc>
                  <a:txBody>
                    <a:bodyPr/>
                    <a:lstStyle/>
                    <a:p>
                      <a:pPr>
                        <a:defRPr sz="850" b="1">
                          <a:solidFill>
                            <a:srgbClr val="0D9488"/>
                          </a:solidFill>
                        </a:defRPr>
                      </a:pPr>
                      <a:r>
                        <a:t>Gemini AI P1-P4 priority scoring with explainable rationale in &lt;2s</a:t>
                      </a:r>
                    </a:p>
                  </a:txBody>
                  <a:tcPr>
                    <a:solidFill>
                      <a:srgbClr val="F0FDFA"/>
                    </a:solidFill>
                  </a:tcPr>
                </a:tc>
              </a:tr>
              <a:tr h="603504">
                <a:tc>
                  <a:txBody>
                    <a:bodyPr/>
                    <a:lstStyle/>
                    <a:p>
                      <a:pPr>
                        <a:defRPr sz="850" b="0">
                          <a:solidFill>
                            <a:srgbClr val="0F172A"/>
                          </a:solidFill>
                        </a:defRPr>
                      </a:pPr>
                      <a:r>
                        <a:t>Resolution Integrity</a:t>
                      </a:r>
                    </a:p>
                  </a:txBody>
                  <a:tcPr>
                    <a:solidFill>
                      <a:srgbClr val="FFFFFF"/>
                    </a:solidFill>
                  </a:tcPr>
                </a:tc>
                <a:tc>
                  <a:txBody>
                    <a:bodyPr/>
                    <a:lstStyle/>
                    <a:p>
                      <a:pPr>
                        <a:defRPr sz="850" b="0">
                          <a:solidFill>
                            <a:srgbClr val="0F172A"/>
                          </a:solidFill>
                        </a:defRPr>
                      </a:pPr>
                      <a:r>
                        <a:t>Contractor marks closed with zero proof</a:t>
                      </a:r>
                    </a:p>
                  </a:txBody>
                  <a:tcPr>
                    <a:solidFill>
                      <a:srgbClr val="FFFFFF"/>
                    </a:solidFill>
                  </a:tcPr>
                </a:tc>
                <a:tc>
                  <a:txBody>
                    <a:bodyPr/>
                    <a:lstStyle/>
                    <a:p>
                      <a:pPr>
                        <a:defRPr sz="850" b="0">
                          <a:solidFill>
                            <a:srgbClr val="0F172A"/>
                          </a:solidFill>
                        </a:defRPr>
                      </a:pPr>
                      <a:r>
                        <a:t>Agent marks 'Resolved' unilaterally</a:t>
                      </a:r>
                    </a:p>
                  </a:txBody>
                  <a:tcPr>
                    <a:solidFill>
                      <a:srgbClr val="FFFFFF"/>
                    </a:solidFill>
                  </a:tcPr>
                </a:tc>
                <a:tc>
                  <a:txBody>
                    <a:bodyPr/>
                    <a:lstStyle/>
                    <a:p>
                      <a:pPr>
                        <a:defRPr sz="850" b="1">
                          <a:solidFill>
                            <a:srgbClr val="0D9488"/>
                          </a:solidFill>
                        </a:defRPr>
                      </a:pPr>
                      <a:r>
                        <a:t>Mandatory Before/After photo proof + 1-Click Citizen Veto / Reopen right</a:t>
                      </a:r>
                    </a:p>
                  </a:txBody>
                  <a:tcPr>
                    <a:solidFill>
                      <a:srgbClr val="F0FD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List of Features Offered by CivicLens AI</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457200" y="1280160"/>
            <a:ext cx="393192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D9488"/>
                </a:solidFill>
              </a:defRPr>
            </a:pPr>
            <a:r>
              <a:t>Citizen-Facing Capabilities</a:t>
            </a:r>
          </a:p>
          <a:p>
            <a:pPr>
              <a:defRPr sz="850">
                <a:solidFill>
                  <a:srgbClr val="0F172A"/>
                </a:solidFill>
              </a:defRPr>
            </a:pPr>
            <a:r>
              <a:t>• 1-Click Camera &amp; Photo Capture: Direct browser camera or file upload with 2MB bounds and on-the-fly ImageSharp compression.</a:t>
            </a:r>
          </a:p>
          <a:p>
            <a:pPr>
              <a:defRPr sz="850">
                <a:solidFill>
                  <a:srgbClr val="0F172A"/>
                </a:solidFill>
              </a:defRPr>
            </a:pPr>
            <a:r>
              <a:t>• Multilingual Voice Reporting: Speak naturally in Hindi, Punjabi, Tamil, etc. Transcribed &amp; translated via Gemini.</a:t>
            </a:r>
          </a:p>
          <a:p>
            <a:pPr>
              <a:defRPr sz="850">
                <a:solidFill>
                  <a:srgbClr val="0F172A"/>
                </a:solidFill>
              </a:defRPr>
            </a:pPr>
            <a:r>
              <a:t>• Voice Clarity Nudge Modal: Unclear audio (&lt;4 words or muffled) prompts citizen with 1-click category override.</a:t>
            </a:r>
          </a:p>
          <a:p>
            <a:pPr>
              <a:defRPr sz="850">
                <a:solidFill>
                  <a:srgbClr val="0F172A"/>
                </a:solidFill>
              </a:defRPr>
            </a:pPr>
            <a:r>
              <a:t>• Emergency Crisis Hotlines: Distress keywords trigger clickable dial buttons for Tele-MANAS (14416), Women (1091), Child (1098).</a:t>
            </a:r>
          </a:p>
          <a:p>
            <a:pPr>
              <a:defRPr sz="850">
                <a:solidFill>
                  <a:srgbClr val="0F172A"/>
                </a:solidFill>
              </a:defRPr>
            </a:pPr>
            <a:r>
              <a:t>• Audio Playback: Citizens can replay submitted voice notes from 'My Requests' anytime.</a:t>
            </a:r>
          </a:p>
          <a:p>
            <a:pPr>
              <a:defRPr sz="850">
                <a:solidFill>
                  <a:srgbClr val="0F172A"/>
                </a:solidFill>
              </a:defRPr>
            </a:pPr>
            <a:r>
              <a:t>• Incident Lifecycle Control: Full edit/delete capability before municipal review; 1-click reopen veto after resolution.</a:t>
            </a:r>
          </a:p>
        </p:txBody>
      </p:sp>
      <p:sp>
        <p:nvSpPr>
          <p:cNvPr id="89" name="Rounded Rectangle 88"/>
          <p:cNvSpPr/>
          <p:nvPr/>
        </p:nvSpPr>
        <p:spPr>
          <a:xfrm>
            <a:off x="4572000" y="1280160"/>
            <a:ext cx="4114800" cy="30175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Municipal &amp; Reviewer Console</a:t>
            </a:r>
          </a:p>
          <a:p>
            <a:pPr>
              <a:defRPr sz="850">
                <a:solidFill>
                  <a:srgbClr val="0F172A"/>
                </a:solidFill>
              </a:defRPr>
            </a:pPr>
            <a:r>
              <a:t>• Deterministic Duplicate Clustering: Automatically links repeat complaints within 250m into parent-child incident clusters.</a:t>
            </a:r>
          </a:p>
          <a:p>
            <a:pPr>
              <a:defRPr sz="850">
                <a:solidFill>
                  <a:srgbClr val="0F172A"/>
                </a:solidFill>
              </a:defRPr>
            </a:pPr>
            <a:r>
              <a:t>• Explainable Priority Scoring: Gemini AI assigns P1 to P4 with plain-language technical justifications.</a:t>
            </a:r>
          </a:p>
          <a:p>
            <a:pPr>
              <a:defRPr sz="850">
                <a:solidFill>
                  <a:srgbClr val="0F172A"/>
                </a:solidFill>
              </a:defRPr>
            </a:pPr>
            <a:r>
              <a:t>• Non-Civic Matter Guardrail: Out-of-jurisdiction issues (private domestic disputes) flagged as P4 with non-civic notice tags.</a:t>
            </a:r>
          </a:p>
          <a:p>
            <a:pPr>
              <a:defRPr sz="850">
                <a:solidFill>
                  <a:srgbClr val="0F172A"/>
                </a:solidFill>
              </a:defRPr>
            </a:pPr>
            <a:r>
              <a:t>• Role-Based Access Control (RBAC): Dedicated portals and route guards for Citizens, Reviewers, and Administrators.</a:t>
            </a:r>
          </a:p>
          <a:p>
            <a:pPr>
              <a:defRPr sz="850">
                <a:solidFill>
                  <a:srgbClr val="0F172A"/>
                </a:solidFill>
              </a:defRPr>
            </a:pPr>
            <a:r>
              <a:t>• Activity Audit Log: Immutable timestamped trail tracking every status change, assignment, and evidence upload.</a:t>
            </a:r>
          </a:p>
          <a:p>
            <a:pPr>
              <a:defRPr sz="850">
                <a:solidFill>
                  <a:srgbClr val="0F172A"/>
                </a:solidFill>
              </a:defRPr>
            </a:pPr>
            <a:r>
              <a:t>• Rate Limiting &amp; Security: Token-bucket limiter returning HTTP 429 to protect municipal endpoints from flood attacks.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Process Flow &amp;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457200" y="1371600"/>
            <a:ext cx="2560320" cy="128016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D9488"/>
                </a:solidFill>
              </a:defRPr>
            </a:pPr>
            <a:r>
              <a:t>1. Ingestion</a:t>
            </a:r>
          </a:p>
          <a:p>
            <a:pPr>
              <a:defRPr sz="900">
                <a:solidFill>
                  <a:srgbClr val="0F172A"/>
                </a:solidFill>
              </a:defRPr>
            </a:pPr>
            <a:r>
              <a:t>Citizen captures camera photo, speaks in regional voice, GPS auto-pinned.</a:t>
            </a:r>
          </a:p>
        </p:txBody>
      </p:sp>
      <p:sp>
        <p:nvSpPr>
          <p:cNvPr id="97" name="Rounded Rectangle 96"/>
          <p:cNvSpPr/>
          <p:nvPr/>
        </p:nvSpPr>
        <p:spPr>
          <a:xfrm>
            <a:off x="3200400" y="1371600"/>
            <a:ext cx="2560320" cy="12801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2563EB"/>
                </a:solidFill>
              </a:defRPr>
            </a:pPr>
            <a:r>
              <a:t>2. Gemini AI</a:t>
            </a:r>
          </a:p>
          <a:p>
            <a:pPr>
              <a:defRPr sz="900">
                <a:solidFill>
                  <a:srgbClr val="0F172A"/>
                </a:solidFill>
              </a:defRPr>
            </a:pPr>
            <a:r>
              <a:t>Multimodal analysis: image hazard detection, voice transcription, P1-P4 priority scoring.</a:t>
            </a:r>
          </a:p>
        </p:txBody>
      </p:sp>
      <p:sp>
        <p:nvSpPr>
          <p:cNvPr id="98" name="Rounded Rectangle 97"/>
          <p:cNvSpPr/>
          <p:nvPr/>
        </p:nvSpPr>
        <p:spPr>
          <a:xfrm>
            <a:off x="5943600" y="1371600"/>
            <a:ext cx="2560320" cy="128016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F172A"/>
                </a:solidFill>
              </a:defRPr>
            </a:pPr>
            <a:r>
              <a:t>3. Deduplication</a:t>
            </a:r>
          </a:p>
          <a:p>
            <a:pPr>
              <a:defRPr sz="900">
                <a:solidFill>
                  <a:srgbClr val="0F172A"/>
                </a:solidFill>
              </a:defRPr>
            </a:pPr>
            <a:r>
              <a:t>Spatial Haversine (250m) + token similarity links repeat complaints automatically.</a:t>
            </a:r>
          </a:p>
        </p:txBody>
      </p:sp>
      <p:sp>
        <p:nvSpPr>
          <p:cNvPr id="99" name="Rounded Rectangle 98"/>
          <p:cNvSpPr/>
          <p:nvPr/>
        </p:nvSpPr>
        <p:spPr>
          <a:xfrm>
            <a:off x="457200" y="2834640"/>
            <a:ext cx="2560320" cy="12801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D97706"/>
                </a:solidFill>
              </a:defRPr>
            </a:pPr>
            <a:r>
              <a:t>4. Dispatch</a:t>
            </a:r>
          </a:p>
          <a:p>
            <a:pPr>
              <a:defRPr sz="900">
                <a:solidFill>
                  <a:srgbClr val="0F172A"/>
                </a:solidFill>
              </a:defRPr>
            </a:pPr>
            <a:r>
              <a:t>Triage console routes work order to municipal field team with SLA targets.</a:t>
            </a:r>
          </a:p>
        </p:txBody>
      </p:sp>
      <p:sp>
        <p:nvSpPr>
          <p:cNvPr id="100" name="Rounded Rectangle 99"/>
          <p:cNvSpPr/>
          <p:nvPr/>
        </p:nvSpPr>
        <p:spPr>
          <a:xfrm>
            <a:off x="3200400" y="2834640"/>
            <a:ext cx="2560320" cy="12801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59669"/>
                </a:solidFill>
              </a:defRPr>
            </a:pPr>
            <a:r>
              <a:t>5. Verification</a:t>
            </a:r>
          </a:p>
          <a:p>
            <a:pPr>
              <a:defRPr sz="900">
                <a:solidFill>
                  <a:srgbClr val="0F172A"/>
                </a:solidFill>
              </a:defRPr>
            </a:pPr>
            <a:r>
              <a:t>Field team uploads 'after-work' photo; advisory AI inspects ground truth.</a:t>
            </a:r>
          </a:p>
        </p:txBody>
      </p:sp>
      <p:sp>
        <p:nvSpPr>
          <p:cNvPr id="101" name="Rounded Rectangle 100"/>
          <p:cNvSpPr/>
          <p:nvPr/>
        </p:nvSpPr>
        <p:spPr>
          <a:xfrm>
            <a:off x="5943600" y="2834640"/>
            <a:ext cx="2560320" cy="128016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DC2626"/>
                </a:solidFill>
              </a:defRPr>
            </a:pPr>
            <a:r>
              <a:t>6. Citizen Veto</a:t>
            </a:r>
          </a:p>
          <a:p>
            <a:pPr>
              <a:defRPr sz="900">
                <a:solidFill>
                  <a:srgbClr val="0F172A"/>
                </a:solidFill>
              </a:defRPr>
            </a:pPr>
            <a:r>
              <a:t>Citizen verifies fix. If unsatisfied, 1-click reopen veto escalates to supervisor.</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Wireframes &amp; Mock Diagrams of Proposed Solution</a:t>
            </a:r>
            <a:endParaRPr sz="1600">
              <a:latin typeface="Google Sans Flex Medium"/>
              <a:ea typeface="Google Sans Flex Medium"/>
              <a:cs typeface="Google Sans Flex Medium"/>
              <a:sym typeface="Google Sans Flex Medium"/>
            </a:endParaRPr>
          </a:p>
        </p:txBody>
      </p:sp>
      <p:pic>
        <p:nvPicPr>
          <p:cNvPr id="104" name="Picture 103" descr="report.png"/>
          <p:cNvPicPr>
            <a:picLocks noChangeAspect="1"/>
          </p:cNvPicPr>
          <p:nvPr/>
        </p:nvPicPr>
        <p:blipFill>
          <a:blip r:embed="rId5"/>
          <a:stretch>
            <a:fillRect/>
          </a:stretch>
        </p:blipFill>
        <p:spPr>
          <a:xfrm>
            <a:off x="457200" y="1371600"/>
            <a:ext cx="3840480" cy="2400300"/>
          </a:xfrm>
          <a:prstGeom prst="rect">
            <a:avLst/>
          </a:prstGeom>
        </p:spPr>
      </p:pic>
      <p:sp>
        <p:nvSpPr>
          <p:cNvPr id="105" name="Rounded Rectangle 104"/>
          <p:cNvSpPr/>
          <p:nvPr/>
        </p:nvSpPr>
        <p:spPr>
          <a:xfrm>
            <a:off x="457200" y="3840480"/>
            <a:ext cx="3840480" cy="457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defRPr>
            </a:pPr>
            <a:r>
              <a:t>Citizen Multimodal Reporting Screen (/report)</a:t>
            </a:r>
          </a:p>
        </p:txBody>
      </p:sp>
      <p:pic>
        <p:nvPicPr>
          <p:cNvPr id="106" name="Picture 105" descr="dashboard.png"/>
          <p:cNvPicPr>
            <a:picLocks noChangeAspect="1"/>
          </p:cNvPicPr>
          <p:nvPr/>
        </p:nvPicPr>
        <p:blipFill>
          <a:blip r:embed="rId6"/>
          <a:stretch>
            <a:fillRect/>
          </a:stretch>
        </p:blipFill>
        <p:spPr>
          <a:xfrm>
            <a:off x="4572000" y="1371600"/>
            <a:ext cx="3840480" cy="2400300"/>
          </a:xfrm>
          <a:prstGeom prst="rect">
            <a:avLst/>
          </a:prstGeom>
        </p:spPr>
      </p:pic>
      <p:sp>
        <p:nvSpPr>
          <p:cNvPr id="107" name="Rounded Rectangle 106"/>
          <p:cNvSpPr/>
          <p:nvPr/>
        </p:nvSpPr>
        <p:spPr>
          <a:xfrm>
            <a:off x="4572000" y="3840480"/>
            <a:ext cx="3840480" cy="45720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defRPr>
            </a:pPr>
            <a:r>
              <a:t>Municipal Triage &amp; Review Console (/dashboard)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Cloud Run &amp; Gemini Architecture Diagram</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65760" y="1371600"/>
            <a:ext cx="1508760" cy="292608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defRPr>
            </a:pPr>
            <a:r>
              <a:t>Client Tier</a:t>
            </a:r>
          </a:p>
          <a:p>
            <a:pPr>
              <a:defRPr sz="850">
                <a:solidFill>
                  <a:srgbClr val="0F172A"/>
                </a:solidFill>
              </a:defRPr>
            </a:pPr>
            <a:r>
              <a:t>Angular 19 SPA</a:t>
            </a:r>
            <a:br/>
            <a:r>
              <a:t>• Standalone Components &amp; Signals</a:t>
            </a:r>
            <a:br/>
            <a:r>
              <a:t>• Native MediaRecorder &amp; Camera</a:t>
            </a:r>
            <a:br/>
            <a:r>
              <a:t>• 10 Regional Languages (i18n)</a:t>
            </a:r>
          </a:p>
        </p:txBody>
      </p:sp>
      <p:sp>
        <p:nvSpPr>
          <p:cNvPr id="113" name="Rounded Rectangle 112"/>
          <p:cNvSpPr/>
          <p:nvPr/>
        </p:nvSpPr>
        <p:spPr>
          <a:xfrm>
            <a:off x="2011680" y="1371600"/>
            <a:ext cx="1508760" cy="292608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Edge Tier</a:t>
            </a:r>
          </a:p>
          <a:p>
            <a:pPr>
              <a:defRPr sz="850">
                <a:solidFill>
                  <a:srgbClr val="0F172A"/>
                </a:solidFill>
              </a:defRPr>
            </a:pPr>
            <a:r>
              <a:t>Google Firebase Hosting</a:t>
            </a:r>
            <a:br/>
            <a:r>
              <a:t>• Global Low-Latency Edge CDN</a:t>
            </a:r>
            <a:br/>
            <a:r>
              <a:t>• Automated SSL Provisioning</a:t>
            </a:r>
            <a:br/>
            <a:r>
              <a:t>• Zero-Latency /api/* Proxy to Run</a:t>
            </a:r>
          </a:p>
        </p:txBody>
      </p:sp>
      <p:sp>
        <p:nvSpPr>
          <p:cNvPr id="114" name="Rounded Rectangle 113"/>
          <p:cNvSpPr/>
          <p:nvPr/>
        </p:nvSpPr>
        <p:spPr>
          <a:xfrm>
            <a:off x="3657600" y="1371600"/>
            <a:ext cx="1508760" cy="292608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Compute Tier</a:t>
            </a:r>
          </a:p>
          <a:p>
            <a:pPr>
              <a:defRPr sz="850">
                <a:solidFill>
                  <a:srgbClr val="0F172A"/>
                </a:solidFill>
              </a:defRPr>
            </a:pPr>
            <a:r>
              <a:t>Google Cloud Run</a:t>
            </a:r>
            <a:br/>
            <a:r>
              <a:t>• Containerized ASP.NET Core 8 Web API</a:t>
            </a:r>
            <a:br/>
            <a:r>
              <a:t>• Token-Bucket Rate Limiter (HTTP 429)</a:t>
            </a:r>
            <a:br/>
            <a:r>
              <a:t>• SixLabors.ImageSharp 4.1.3 (2MB Bound)</a:t>
            </a:r>
          </a:p>
        </p:txBody>
      </p:sp>
      <p:sp>
        <p:nvSpPr>
          <p:cNvPr id="115" name="Rounded Rectangle 114"/>
          <p:cNvSpPr/>
          <p:nvPr/>
        </p:nvSpPr>
        <p:spPr>
          <a:xfrm>
            <a:off x="5303520" y="1371600"/>
            <a:ext cx="1508760" cy="29260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59669"/>
                </a:solidFill>
              </a:defRPr>
            </a:pPr>
            <a:r>
              <a:t>AI Tier</a:t>
            </a:r>
          </a:p>
          <a:p>
            <a:pPr>
              <a:defRPr sz="850">
                <a:solidFill>
                  <a:srgbClr val="0F172A"/>
                </a:solidFill>
              </a:defRPr>
            </a:pPr>
            <a:r>
              <a:t>Google Gemini Multimodal AI</a:t>
            </a:r>
            <a:br/>
            <a:r>
              <a:t>• Gemini 1.5/2.0 Flash &amp; Pro</a:t>
            </a:r>
            <a:br/>
            <a:r>
              <a:t>• Concurrent Audio &amp; Image Ingestion</a:t>
            </a:r>
            <a:br/>
            <a:r>
              <a:t>• Explainable Triage &amp; Crisis Hotlines</a:t>
            </a:r>
          </a:p>
        </p:txBody>
      </p:sp>
      <p:sp>
        <p:nvSpPr>
          <p:cNvPr id="116" name="Rounded Rectangle 115"/>
          <p:cNvSpPr/>
          <p:nvPr/>
        </p:nvSpPr>
        <p:spPr>
          <a:xfrm>
            <a:off x="6949440" y="1371600"/>
            <a:ext cx="1508760" cy="29260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97706"/>
                </a:solidFill>
              </a:defRPr>
            </a:pPr>
            <a:r>
              <a:t>Storage Tier</a:t>
            </a:r>
          </a:p>
          <a:p>
            <a:pPr>
              <a:defRPr sz="850">
                <a:solidFill>
                  <a:srgbClr val="0F172A"/>
                </a:solidFill>
              </a:defRPr>
            </a:pPr>
            <a:r>
              <a:t>Cloud Firestore &amp; Storage</a:t>
            </a:r>
            <a:br/>
            <a:r>
              <a:t>• Real-Time NoSQL Document DB</a:t>
            </a:r>
            <a:br/>
            <a:r>
              <a:t>• Immutable Audit Event Ledger</a:t>
            </a:r>
            <a:br/>
            <a:r>
              <a:t>• Compressed Photo &amp; Audio Buckets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Technologies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457200" y="1371600"/>
            <a:ext cx="3840480" cy="13716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defRPr>
            </a:pPr>
            <a:r>
              <a:t>Frontend Application</a:t>
            </a:r>
          </a:p>
          <a:p>
            <a:pPr>
              <a:defRPr sz="850">
                <a:solidFill>
                  <a:srgbClr val="0F172A"/>
                </a:solidFill>
              </a:defRPr>
            </a:pPr>
            <a:r>
              <a:t>• Angular 19 (TypeScript, Signals)</a:t>
            </a:r>
            <a:br/>
            <a:r>
              <a:t>• RxJS Reactive Streams</a:t>
            </a:r>
            <a:br/>
            <a:r>
              <a:t>• SCSS &amp; Material Round Icons</a:t>
            </a:r>
            <a:br/>
            <a:r>
              <a:t>• Web Speech &amp; MediaStream API</a:t>
            </a:r>
            <a:br/>
            <a:r>
              <a:t>• Playwright E2E Suite (20 Scenarios)</a:t>
            </a:r>
          </a:p>
        </p:txBody>
      </p:sp>
      <p:sp>
        <p:nvSpPr>
          <p:cNvPr id="121" name="Rounded Rectangle 120"/>
          <p:cNvSpPr/>
          <p:nvPr/>
        </p:nvSpPr>
        <p:spPr>
          <a:xfrm>
            <a:off x="4480560" y="1371600"/>
            <a:ext cx="3840480" cy="13716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Backend &amp; Middleware</a:t>
            </a:r>
          </a:p>
          <a:p>
            <a:pPr>
              <a:defRPr sz="850">
                <a:solidFill>
                  <a:srgbClr val="0F172A"/>
                </a:solidFill>
              </a:defRPr>
            </a:pPr>
            <a:r>
              <a:t>• C# ASP.NET Core 8 Web API</a:t>
            </a:r>
            <a:br/>
            <a:r>
              <a:t>• Entity Framework Core ORM</a:t>
            </a:r>
            <a:br/>
            <a:r>
              <a:t>• SixLabors.ImageSharp 4.1.3</a:t>
            </a:r>
            <a:br/>
            <a:r>
              <a:t>• ASP.NET Token Rate Limiter</a:t>
            </a:r>
            <a:br/>
            <a:r>
              <a:t>• xUnit Test Suite (35 Unit Tests)</a:t>
            </a:r>
          </a:p>
        </p:txBody>
      </p:sp>
      <p:sp>
        <p:nvSpPr>
          <p:cNvPr id="122" name="Rounded Rectangle 121"/>
          <p:cNvSpPr/>
          <p:nvPr/>
        </p:nvSpPr>
        <p:spPr>
          <a:xfrm>
            <a:off x="457200" y="2926080"/>
            <a:ext cx="3840480" cy="137160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Google Cloud &amp; Firebase</a:t>
            </a:r>
          </a:p>
          <a:p>
            <a:pPr>
              <a:defRPr sz="850">
                <a:solidFill>
                  <a:srgbClr val="0F172A"/>
                </a:solidFill>
              </a:defRPr>
            </a:pPr>
            <a:r>
              <a:t>• Google Cloud Run (Serverless Containers)</a:t>
            </a:r>
            <a:br/>
            <a:r>
              <a:t>• Firebase Hosting (Global CDN Edge)</a:t>
            </a:r>
            <a:br/>
            <a:r>
              <a:t>• Google Cloud Firestore (NoSQL DB)</a:t>
            </a:r>
            <a:br/>
            <a:r>
              <a:t>• Google Cloud Storage (Media Buckets)</a:t>
            </a:r>
            <a:br/>
            <a:r>
              <a:t>• Secret Manager (Encrypted Keys)</a:t>
            </a:r>
          </a:p>
        </p:txBody>
      </p:sp>
      <p:sp>
        <p:nvSpPr>
          <p:cNvPr id="123" name="Rounded Rectangle 122"/>
          <p:cNvSpPr/>
          <p:nvPr/>
        </p:nvSpPr>
        <p:spPr>
          <a:xfrm>
            <a:off x="4480560" y="2926080"/>
            <a:ext cx="3840480" cy="137160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59669"/>
                </a:solidFill>
              </a:defRPr>
            </a:pPr>
            <a:r>
              <a:t>AI &amp; Multimodal Engine</a:t>
            </a:r>
          </a:p>
          <a:p>
            <a:pPr>
              <a:defRPr sz="850">
                <a:solidFill>
                  <a:srgbClr val="0F172A"/>
                </a:solidFill>
              </a:defRPr>
            </a:pPr>
            <a:r>
              <a:t>• Google Gemini 1.5/2.0 Flash</a:t>
            </a:r>
            <a:br/>
            <a:r>
              <a:t>• Google Gemini Pro Reasoning</a:t>
            </a:r>
            <a:br/>
            <a:r>
              <a:t>• Haversine Geolocation Engine</a:t>
            </a:r>
            <a:br/>
            <a:r>
              <a:t>• Jaccard Token Set Similarity</a:t>
            </a:r>
            <a:br/>
            <a:r>
              <a:t>• Tele-MANAS &amp; Crisis Trigger Engine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Estimated Implementation Cost &amp; Scaling Economics</a:t>
            </a:r>
            <a:endParaRPr sz="1600">
              <a:latin typeface="Google Sans Flex Medium"/>
              <a:ea typeface="Google Sans Flex Medium"/>
              <a:cs typeface="Google Sans Flex Medium"/>
              <a:sym typeface="Google Sans Flex Medium"/>
            </a:endParaRPr>
          </a:p>
        </p:txBody>
      </p:sp>
      <p:graphicFrame>
        <p:nvGraphicFramePr>
          <p:cNvPr id="128" name="Table 127"/>
          <p:cNvGraphicFramePr>
            <a:graphicFrameLocks noGrp="1"/>
          </p:cNvGraphicFramePr>
          <p:nvPr/>
        </p:nvGraphicFramePr>
        <p:xfrm>
          <a:off x="457200" y="1280160"/>
          <a:ext cx="8138160" cy="2011680"/>
        </p:xfrm>
        <a:graphic>
          <a:graphicData uri="http://schemas.openxmlformats.org/drawingml/2006/table">
            <a:tbl>
              <a:tblPr firstRow="1" bandRow="1">
                <a:tableStyleId>{5C22544A-7EE6-4342-B048-85BDC9FD1C3A}</a:tableStyleId>
              </a:tblPr>
              <a:tblGrid>
                <a:gridCol w="2011680"/>
                <a:gridCol w="2377440"/>
                <a:gridCol w="1920240"/>
                <a:gridCol w="1828800"/>
              </a:tblGrid>
              <a:tr h="335280">
                <a:tc>
                  <a:txBody>
                    <a:bodyPr/>
                    <a:lstStyle/>
                    <a:p>
                      <a:pPr>
                        <a:defRPr sz="900" b="1">
                          <a:solidFill>
                            <a:srgbClr val="FFFFFF"/>
                          </a:solidFill>
                        </a:defRPr>
                      </a:pPr>
                      <a:r>
                        <a:t>Service Component</a:t>
                      </a:r>
                    </a:p>
                  </a:txBody>
                  <a:tcPr>
                    <a:solidFill>
                      <a:srgbClr val="0F172A"/>
                    </a:solidFill>
                  </a:tcPr>
                </a:tc>
                <a:tc>
                  <a:txBody>
                    <a:bodyPr/>
                    <a:lstStyle/>
                    <a:p>
                      <a:pPr>
                        <a:defRPr sz="900" b="1">
                          <a:solidFill>
                            <a:srgbClr val="FFFFFF"/>
                          </a:solidFill>
                        </a:defRPr>
                      </a:pPr>
                      <a:r>
                        <a:t>Usage (10,000 Incidents / Mo)</a:t>
                      </a:r>
                    </a:p>
                  </a:txBody>
                  <a:tcPr>
                    <a:solidFill>
                      <a:srgbClr val="0F172A"/>
                    </a:solidFill>
                  </a:tcPr>
                </a:tc>
                <a:tc>
                  <a:txBody>
                    <a:bodyPr/>
                    <a:lstStyle/>
                    <a:p>
                      <a:pPr>
                        <a:defRPr sz="900" b="1">
                          <a:solidFill>
                            <a:srgbClr val="FFFFFF"/>
                          </a:solidFill>
                        </a:defRPr>
                      </a:pPr>
                      <a:r>
                        <a:t>Unit Pricing</a:t>
                      </a:r>
                    </a:p>
                  </a:txBody>
                  <a:tcPr>
                    <a:solidFill>
                      <a:srgbClr val="0F172A"/>
                    </a:solidFill>
                  </a:tcPr>
                </a:tc>
                <a:tc>
                  <a:txBody>
                    <a:bodyPr/>
                    <a:lstStyle/>
                    <a:p>
                      <a:pPr>
                        <a:defRPr sz="900" b="1">
                          <a:solidFill>
                            <a:srgbClr val="FFFFFF"/>
                          </a:solidFill>
                        </a:defRPr>
                      </a:pPr>
                      <a:r>
                        <a:t>Monthly Cost (USD)</a:t>
                      </a:r>
                    </a:p>
                  </a:txBody>
                  <a:tcPr>
                    <a:solidFill>
                      <a:srgbClr val="0D9488"/>
                    </a:solidFill>
                  </a:tcPr>
                </a:tc>
              </a:tr>
              <a:tr h="335280">
                <a:tc>
                  <a:txBody>
                    <a:bodyPr/>
                    <a:lstStyle/>
                    <a:p>
                      <a:pPr>
                        <a:defRPr sz="850" b="0">
                          <a:solidFill>
                            <a:srgbClr val="0F172A"/>
                          </a:solidFill>
                        </a:defRPr>
                      </a:pPr>
                      <a:r>
                        <a:t>Google Cloud Run</a:t>
                      </a:r>
                    </a:p>
                  </a:txBody>
                  <a:tcPr>
                    <a:solidFill>
                      <a:srgbClr val="FFFFFF"/>
                    </a:solidFill>
                  </a:tcPr>
                </a:tc>
                <a:tc>
                  <a:txBody>
                    <a:bodyPr/>
                    <a:lstStyle/>
                    <a:p>
                      <a:pPr>
                        <a:defRPr sz="850" b="0">
                          <a:solidFill>
                            <a:srgbClr val="0F172A"/>
                          </a:solidFill>
                        </a:defRPr>
                      </a:pPr>
                      <a:r>
                        <a:t>100,000 API requests, 1 vCPU / 1GB</a:t>
                      </a:r>
                    </a:p>
                  </a:txBody>
                  <a:tcPr>
                    <a:solidFill>
                      <a:srgbClr val="FFFFFF"/>
                    </a:solidFill>
                  </a:tcPr>
                </a:tc>
                <a:tc>
                  <a:txBody>
                    <a:bodyPr/>
                    <a:lstStyle/>
                    <a:p>
                      <a:pPr>
                        <a:defRPr sz="850" b="0">
                          <a:solidFill>
                            <a:srgbClr val="0F172A"/>
                          </a:solidFill>
                        </a:defRPr>
                      </a:pPr>
                      <a:r>
                        <a:t>Free tier covers first 2M calls</a:t>
                      </a:r>
                    </a:p>
                  </a:txBody>
                  <a:tcPr>
                    <a:solidFill>
                      <a:srgbClr val="FFFFFF"/>
                    </a:solidFill>
                  </a:tcPr>
                </a:tc>
                <a:tc>
                  <a:txBody>
                    <a:bodyPr/>
                    <a:lstStyle/>
                    <a:p>
                      <a:pPr>
                        <a:defRPr sz="850" b="1">
                          <a:solidFill>
                            <a:srgbClr val="0D9488"/>
                          </a:solidFill>
                        </a:defRPr>
                      </a:pPr>
                      <a:r>
                        <a:t>$0.00</a:t>
                      </a:r>
                    </a:p>
                  </a:txBody>
                  <a:tcPr>
                    <a:solidFill>
                      <a:srgbClr val="F0FDFA"/>
                    </a:solidFill>
                  </a:tcPr>
                </a:tc>
              </a:tr>
              <a:tr h="335280">
                <a:tc>
                  <a:txBody>
                    <a:bodyPr/>
                    <a:lstStyle/>
                    <a:p>
                      <a:pPr>
                        <a:defRPr sz="850" b="0">
                          <a:solidFill>
                            <a:srgbClr val="0F172A"/>
                          </a:solidFill>
                        </a:defRPr>
                      </a:pPr>
                      <a:r>
                        <a:t>Firebase Hosting</a:t>
                      </a:r>
                    </a:p>
                  </a:txBody>
                  <a:tcPr>
                    <a:solidFill>
                      <a:srgbClr val="FFFFFF"/>
                    </a:solidFill>
                  </a:tcPr>
                </a:tc>
                <a:tc>
                  <a:txBody>
                    <a:bodyPr/>
                    <a:lstStyle/>
                    <a:p>
                      <a:pPr>
                        <a:defRPr sz="850" b="0">
                          <a:solidFill>
                            <a:srgbClr val="0F172A"/>
                          </a:solidFill>
                        </a:defRPr>
                      </a:pPr>
                      <a:r>
                        <a:t>10 GB bandwidth, 50k page views</a:t>
                      </a:r>
                    </a:p>
                  </a:txBody>
                  <a:tcPr>
                    <a:solidFill>
                      <a:srgbClr val="FFFFFF"/>
                    </a:solidFill>
                  </a:tcPr>
                </a:tc>
                <a:tc>
                  <a:txBody>
                    <a:bodyPr/>
                    <a:lstStyle/>
                    <a:p>
                      <a:pPr>
                        <a:defRPr sz="850" b="0">
                          <a:solidFill>
                            <a:srgbClr val="0F172A"/>
                          </a:solidFill>
                        </a:defRPr>
                      </a:pPr>
                      <a:r>
                        <a:t>Free tier covers first 10 GB/mo</a:t>
                      </a:r>
                    </a:p>
                  </a:txBody>
                  <a:tcPr>
                    <a:solidFill>
                      <a:srgbClr val="FFFFFF"/>
                    </a:solidFill>
                  </a:tcPr>
                </a:tc>
                <a:tc>
                  <a:txBody>
                    <a:bodyPr/>
                    <a:lstStyle/>
                    <a:p>
                      <a:pPr>
                        <a:defRPr sz="850" b="1">
                          <a:solidFill>
                            <a:srgbClr val="0D9488"/>
                          </a:solidFill>
                        </a:defRPr>
                      </a:pPr>
                      <a:r>
                        <a:t>$0.00</a:t>
                      </a:r>
                    </a:p>
                  </a:txBody>
                  <a:tcPr>
                    <a:solidFill>
                      <a:srgbClr val="F0FDFA"/>
                    </a:solidFill>
                  </a:tcPr>
                </a:tc>
              </a:tr>
              <a:tr h="335280">
                <a:tc>
                  <a:txBody>
                    <a:bodyPr/>
                    <a:lstStyle/>
                    <a:p>
                      <a:pPr>
                        <a:defRPr sz="850" b="0">
                          <a:solidFill>
                            <a:srgbClr val="0F172A"/>
                          </a:solidFill>
                        </a:defRPr>
                      </a:pPr>
                      <a:r>
                        <a:t>Google Cloud Storage</a:t>
                      </a:r>
                    </a:p>
                  </a:txBody>
                  <a:tcPr>
                    <a:solidFill>
                      <a:srgbClr val="FFFFFF"/>
                    </a:solidFill>
                  </a:tcPr>
                </a:tc>
                <a:tc>
                  <a:txBody>
                    <a:bodyPr/>
                    <a:lstStyle/>
                    <a:p>
                      <a:pPr>
                        <a:defRPr sz="850" b="0">
                          <a:solidFill>
                            <a:srgbClr val="0F172A"/>
                          </a:solidFill>
                        </a:defRPr>
                      </a:pPr>
                      <a:r>
                        <a:t>10,000 compressed photos (2 GB)</a:t>
                      </a:r>
                    </a:p>
                  </a:txBody>
                  <a:tcPr>
                    <a:solidFill>
                      <a:srgbClr val="FFFFFF"/>
                    </a:solidFill>
                  </a:tcPr>
                </a:tc>
                <a:tc>
                  <a:txBody>
                    <a:bodyPr/>
                    <a:lstStyle/>
                    <a:p>
                      <a:pPr>
                        <a:defRPr sz="850" b="0">
                          <a:solidFill>
                            <a:srgbClr val="0F172A"/>
                          </a:solidFill>
                        </a:defRPr>
                      </a:pPr>
                      <a:r>
                        <a:t>$0.020 per GB / month</a:t>
                      </a:r>
                    </a:p>
                  </a:txBody>
                  <a:tcPr>
                    <a:solidFill>
                      <a:srgbClr val="FFFFFF"/>
                    </a:solidFill>
                  </a:tcPr>
                </a:tc>
                <a:tc>
                  <a:txBody>
                    <a:bodyPr/>
                    <a:lstStyle/>
                    <a:p>
                      <a:pPr>
                        <a:defRPr sz="850" b="1">
                          <a:solidFill>
                            <a:srgbClr val="0D9488"/>
                          </a:solidFill>
                        </a:defRPr>
                      </a:pPr>
                      <a:r>
                        <a:t>$0.04</a:t>
                      </a:r>
                    </a:p>
                  </a:txBody>
                  <a:tcPr>
                    <a:solidFill>
                      <a:srgbClr val="F0FDFA"/>
                    </a:solidFill>
                  </a:tcPr>
                </a:tc>
              </a:tr>
              <a:tr h="335280">
                <a:tc>
                  <a:txBody>
                    <a:bodyPr/>
                    <a:lstStyle/>
                    <a:p>
                      <a:pPr>
                        <a:defRPr sz="850" b="0">
                          <a:solidFill>
                            <a:srgbClr val="0F172A"/>
                          </a:solidFill>
                        </a:defRPr>
                      </a:pPr>
                      <a:r>
                        <a:t>Cloud Firestore</a:t>
                      </a:r>
                    </a:p>
                  </a:txBody>
                  <a:tcPr>
                    <a:solidFill>
                      <a:srgbClr val="FFFFFF"/>
                    </a:solidFill>
                  </a:tcPr>
                </a:tc>
                <a:tc>
                  <a:txBody>
                    <a:bodyPr/>
                    <a:lstStyle/>
                    <a:p>
                      <a:pPr>
                        <a:defRPr sz="850" b="0">
                          <a:solidFill>
                            <a:srgbClr val="0F172A"/>
                          </a:solidFill>
                        </a:defRPr>
                      </a:pPr>
                      <a:r>
                        <a:t>50,000 document reads, 20k writes</a:t>
                      </a:r>
                    </a:p>
                  </a:txBody>
                  <a:tcPr>
                    <a:solidFill>
                      <a:srgbClr val="FFFFFF"/>
                    </a:solidFill>
                  </a:tcPr>
                </a:tc>
                <a:tc>
                  <a:txBody>
                    <a:bodyPr/>
                    <a:lstStyle/>
                    <a:p>
                      <a:pPr>
                        <a:defRPr sz="850" b="0">
                          <a:solidFill>
                            <a:srgbClr val="0F172A"/>
                          </a:solidFill>
                        </a:defRPr>
                      </a:pPr>
                      <a:r>
                        <a:t>Free tier covers 50k reads/day</a:t>
                      </a:r>
                    </a:p>
                  </a:txBody>
                  <a:tcPr>
                    <a:solidFill>
                      <a:srgbClr val="FFFFFF"/>
                    </a:solidFill>
                  </a:tcPr>
                </a:tc>
                <a:tc>
                  <a:txBody>
                    <a:bodyPr/>
                    <a:lstStyle/>
                    <a:p>
                      <a:pPr>
                        <a:defRPr sz="850" b="1">
                          <a:solidFill>
                            <a:srgbClr val="0D9488"/>
                          </a:solidFill>
                        </a:defRPr>
                      </a:pPr>
                      <a:r>
                        <a:t>$0.00</a:t>
                      </a:r>
                    </a:p>
                  </a:txBody>
                  <a:tcPr>
                    <a:solidFill>
                      <a:srgbClr val="F0FDFA"/>
                    </a:solidFill>
                  </a:tcPr>
                </a:tc>
              </a:tr>
              <a:tr h="335280">
                <a:tc>
                  <a:txBody>
                    <a:bodyPr/>
                    <a:lstStyle/>
                    <a:p>
                      <a:pPr>
                        <a:defRPr sz="850" b="0">
                          <a:solidFill>
                            <a:srgbClr val="0F172A"/>
                          </a:solidFill>
                        </a:defRPr>
                      </a:pPr>
                      <a:r>
                        <a:t>Gemini 1.5 Flash API</a:t>
                      </a:r>
                    </a:p>
                  </a:txBody>
                  <a:tcPr>
                    <a:solidFill>
                      <a:srgbClr val="FFFFFF"/>
                    </a:solidFill>
                  </a:tcPr>
                </a:tc>
                <a:tc>
                  <a:txBody>
                    <a:bodyPr/>
                    <a:lstStyle/>
                    <a:p>
                      <a:pPr>
                        <a:defRPr sz="850" b="0">
                          <a:solidFill>
                            <a:srgbClr val="0F172A"/>
                          </a:solidFill>
                        </a:defRPr>
                      </a:pPr>
                      <a:r>
                        <a:t>10,000 multimodal requests (~1k tokens)</a:t>
                      </a:r>
                    </a:p>
                  </a:txBody>
                  <a:tcPr>
                    <a:solidFill>
                      <a:srgbClr val="FFFFFF"/>
                    </a:solidFill>
                  </a:tcPr>
                </a:tc>
                <a:tc>
                  <a:txBody>
                    <a:bodyPr/>
                    <a:lstStyle/>
                    <a:p>
                      <a:pPr>
                        <a:defRPr sz="850" b="0">
                          <a:solidFill>
                            <a:srgbClr val="0F172A"/>
                          </a:solidFill>
                        </a:defRPr>
                      </a:pPr>
                      <a:r>
                        <a:t>$0.075 / 1M tokens + $0.00002/img</a:t>
                      </a:r>
                    </a:p>
                  </a:txBody>
                  <a:tcPr>
                    <a:solidFill>
                      <a:srgbClr val="FFFFFF"/>
                    </a:solidFill>
                  </a:tcPr>
                </a:tc>
                <a:tc>
                  <a:txBody>
                    <a:bodyPr/>
                    <a:lstStyle/>
                    <a:p>
                      <a:pPr>
                        <a:defRPr sz="850" b="1">
                          <a:solidFill>
                            <a:srgbClr val="0D9488"/>
                          </a:solidFill>
                        </a:defRPr>
                      </a:pPr>
                      <a:r>
                        <a:t>$2.20</a:t>
                      </a:r>
                    </a:p>
                  </a:txBody>
                  <a:tcPr>
                    <a:solidFill>
                      <a:srgbClr val="F0FDFA"/>
                    </a:solidFill>
                  </a:tcPr>
                </a:tc>
              </a:tr>
            </a:tbl>
          </a:graphicData>
        </a:graphic>
      </p:graphicFrame>
      <p:sp>
        <p:nvSpPr>
          <p:cNvPr id="129" name="Rounded Rectangle 128"/>
          <p:cNvSpPr/>
          <p:nvPr/>
        </p:nvSpPr>
        <p:spPr>
          <a:xfrm>
            <a:off x="457200" y="3474720"/>
            <a:ext cx="8138160" cy="82296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defRPr>
            </a:pPr>
            <a:r>
              <a:t>Unit Economic Breakthrough: Less than $0.00022 (~₹0.02) Per Incident</a:t>
            </a:r>
          </a:p>
          <a:p>
            <a:pPr>
              <a:defRPr sz="900">
                <a:solidFill>
                  <a:srgbClr val="0F172A"/>
                </a:solidFill>
              </a:defRPr>
            </a:pPr>
            <a:r>
              <a:t>Traditional manual call centers cost $2.50 to $4.00 per complaint. CivicLens AI achieves &gt; 99.9% cost reduction while providing 24/7 vernacular multimodal triage.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Snapshots of the Working Prototype</a:t>
            </a:r>
            <a:endParaRPr sz="1600">
              <a:latin typeface="Google Sans Flex Medium"/>
              <a:ea typeface="Google Sans Flex Medium"/>
              <a:cs typeface="Google Sans Flex Medium"/>
              <a:sym typeface="Google Sans Flex Medium"/>
            </a:endParaRPr>
          </a:p>
        </p:txBody>
      </p:sp>
      <p:pic>
        <p:nvPicPr>
          <p:cNvPr id="136" name="Picture 135" descr="landing.png"/>
          <p:cNvPicPr>
            <a:picLocks noChangeAspect="1"/>
          </p:cNvPicPr>
          <p:nvPr/>
        </p:nvPicPr>
        <p:blipFill>
          <a:blip r:embed="rId5"/>
          <a:stretch>
            <a:fillRect/>
          </a:stretch>
        </p:blipFill>
        <p:spPr>
          <a:xfrm>
            <a:off x="457200" y="1371600"/>
            <a:ext cx="2468880" cy="1543050"/>
          </a:xfrm>
          <a:prstGeom prst="rect">
            <a:avLst/>
          </a:prstGeom>
        </p:spPr>
      </p:pic>
      <p:sp>
        <p:nvSpPr>
          <p:cNvPr id="137" name="Rounded Rectangle 136"/>
          <p:cNvSpPr/>
          <p:nvPr/>
        </p:nvSpPr>
        <p:spPr>
          <a:xfrm>
            <a:off x="457200" y="3383280"/>
            <a:ext cx="2468880" cy="73152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D9488"/>
                </a:solidFill>
              </a:defRPr>
            </a:pPr>
            <a:r>
              <a:t>1. Landing &amp; 10 Languages</a:t>
            </a:r>
          </a:p>
          <a:p>
            <a:pPr>
              <a:defRPr sz="800">
                <a:solidFill>
                  <a:srgbClr val="64748B"/>
                </a:solidFill>
              </a:defRPr>
            </a:pPr>
            <a:r>
              <a:t>Instant 30s reporting with vernacular language selector.</a:t>
            </a:r>
          </a:p>
        </p:txBody>
      </p:sp>
      <p:pic>
        <p:nvPicPr>
          <p:cNvPr id="138" name="Picture 137" descr="report.png"/>
          <p:cNvPicPr>
            <a:picLocks noChangeAspect="1"/>
          </p:cNvPicPr>
          <p:nvPr/>
        </p:nvPicPr>
        <p:blipFill>
          <a:blip r:embed="rId6"/>
          <a:stretch>
            <a:fillRect/>
          </a:stretch>
        </p:blipFill>
        <p:spPr>
          <a:xfrm>
            <a:off x="3200400" y="1371600"/>
            <a:ext cx="2468880" cy="1543050"/>
          </a:xfrm>
          <a:prstGeom prst="rect">
            <a:avLst/>
          </a:prstGeom>
        </p:spPr>
      </p:pic>
      <p:sp>
        <p:nvSpPr>
          <p:cNvPr id="139" name="Rounded Rectangle 138"/>
          <p:cNvSpPr/>
          <p:nvPr/>
        </p:nvSpPr>
        <p:spPr>
          <a:xfrm>
            <a:off x="3200400" y="3383280"/>
            <a:ext cx="2468880" cy="73152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defRPr>
            </a:pPr>
            <a:r>
              <a:t>2. Multimodal Intake</a:t>
            </a:r>
          </a:p>
          <a:p>
            <a:pPr>
              <a:defRPr sz="800">
                <a:solidFill>
                  <a:srgbClr val="64748B"/>
                </a:solidFill>
              </a:defRPr>
            </a:pPr>
            <a:r>
              <a:t>Camera, audio waveform, 2MB limit badge, and map pin.</a:t>
            </a:r>
          </a:p>
        </p:txBody>
      </p:sp>
      <p:pic>
        <p:nvPicPr>
          <p:cNvPr id="140" name="Picture 139" descr="login.png"/>
          <p:cNvPicPr>
            <a:picLocks noChangeAspect="1"/>
          </p:cNvPicPr>
          <p:nvPr/>
        </p:nvPicPr>
        <p:blipFill>
          <a:blip r:embed="rId7"/>
          <a:stretch>
            <a:fillRect/>
          </a:stretch>
        </p:blipFill>
        <p:spPr>
          <a:xfrm>
            <a:off x="5943600" y="1371600"/>
            <a:ext cx="2286000" cy="1428750"/>
          </a:xfrm>
          <a:prstGeom prst="rect">
            <a:avLst/>
          </a:prstGeom>
        </p:spPr>
      </p:pic>
      <p:sp>
        <p:nvSpPr>
          <p:cNvPr id="141" name="Rounded Rectangle 140"/>
          <p:cNvSpPr/>
          <p:nvPr/>
        </p:nvSpPr>
        <p:spPr>
          <a:xfrm>
            <a:off x="5943600" y="3383280"/>
            <a:ext cx="2286000" cy="73152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F172A"/>
                </a:solidFill>
              </a:defRPr>
            </a:pPr>
            <a:r>
              <a:t>3. RBAC Auth Portal</a:t>
            </a:r>
          </a:p>
          <a:p>
            <a:pPr>
              <a:defRPr sz="800">
                <a:solidFill>
                  <a:srgbClr val="64748B"/>
                </a:solidFill>
              </a:defRPr>
            </a:pPr>
            <a:r>
              <a:t>Citizen Register &amp; Reviewer/Admin Staff Portal.</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Prototype Performance Report &amp; 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457200" y="1371600"/>
            <a:ext cx="2560320" cy="12801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Playwright E2E Suite</a:t>
            </a:r>
          </a:p>
          <a:p>
            <a:pPr>
              <a:defRPr sz="1200" b="1">
                <a:solidFill>
                  <a:srgbClr val="059669"/>
                </a:solidFill>
              </a:defRPr>
            </a:pPr>
            <a:r>
              <a:t>20 / 20 Scenarios Passed</a:t>
            </a:r>
          </a:p>
          <a:p>
            <a:pPr>
              <a:defRPr sz="800">
                <a:solidFill>
                  <a:srgbClr val="64748B"/>
                </a:solidFill>
              </a:defRPr>
            </a:pPr>
            <a:r>
              <a:t>100% pass rate in 1.0 min across camera, audio, duplicate detection, and auth.</a:t>
            </a:r>
          </a:p>
        </p:txBody>
      </p:sp>
      <p:sp>
        <p:nvSpPr>
          <p:cNvPr id="145" name="Rounded Rectangle 144"/>
          <p:cNvSpPr/>
          <p:nvPr/>
        </p:nvSpPr>
        <p:spPr>
          <a:xfrm>
            <a:off x="3200400" y="1371600"/>
            <a:ext cx="2560320" cy="128016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Backend Unit Tests</a:t>
            </a:r>
          </a:p>
          <a:p>
            <a:pPr>
              <a:defRPr sz="1200" b="1">
                <a:solidFill>
                  <a:srgbClr val="0D9488"/>
                </a:solidFill>
              </a:defRPr>
            </a:pPr>
            <a:r>
              <a:t>35 / 35 Tests Passed</a:t>
            </a:r>
          </a:p>
          <a:p>
            <a:pPr>
              <a:defRPr sz="800">
                <a:solidFill>
                  <a:srgbClr val="64748B"/>
                </a:solidFill>
              </a:defRPr>
            </a:pPr>
            <a:r>
              <a:t>Executed in 442 ms; covers priority rules, duplicate math, and token rate limiting.</a:t>
            </a:r>
          </a:p>
        </p:txBody>
      </p:sp>
      <p:sp>
        <p:nvSpPr>
          <p:cNvPr id="146" name="Rounded Rectangle 145"/>
          <p:cNvSpPr/>
          <p:nvPr/>
        </p:nvSpPr>
        <p:spPr>
          <a:xfrm>
            <a:off x="5943600" y="1371600"/>
            <a:ext cx="2560320" cy="12801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Gemini AI Triage Latency</a:t>
            </a:r>
          </a:p>
          <a:p>
            <a:pPr>
              <a:defRPr sz="1200" b="1">
                <a:solidFill>
                  <a:srgbClr val="2563EB"/>
                </a:solidFill>
              </a:defRPr>
            </a:pPr>
            <a:r>
              <a:t>1.2s – 1.8s Round-Trip</a:t>
            </a:r>
          </a:p>
          <a:p>
            <a:pPr>
              <a:defRPr sz="800">
                <a:solidFill>
                  <a:srgbClr val="64748B"/>
                </a:solidFill>
              </a:defRPr>
            </a:pPr>
            <a:r>
              <a:t>Processes audio bytes and pixels concurrently in a single multimodal call.</a:t>
            </a:r>
          </a:p>
        </p:txBody>
      </p:sp>
      <p:sp>
        <p:nvSpPr>
          <p:cNvPr id="147" name="Rounded Rectangle 146"/>
          <p:cNvSpPr/>
          <p:nvPr/>
        </p:nvSpPr>
        <p:spPr>
          <a:xfrm>
            <a:off x="457200" y="2834640"/>
            <a:ext cx="2560320" cy="128016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Spatial Deduplication</a:t>
            </a:r>
          </a:p>
          <a:p>
            <a:pPr>
              <a:defRPr sz="1200" b="1">
                <a:solidFill>
                  <a:srgbClr val="0F172A"/>
                </a:solidFill>
              </a:defRPr>
            </a:pPr>
            <a:r>
              <a:t>&lt; 15 ms Execution</a:t>
            </a:r>
          </a:p>
          <a:p>
            <a:pPr>
              <a:defRPr sz="800">
                <a:solidFill>
                  <a:srgbClr val="64748B"/>
                </a:solidFill>
              </a:defRPr>
            </a:pPr>
            <a:r>
              <a:t>Spatial Haversine calculation combined with Jaccard token set intersection.</a:t>
            </a:r>
          </a:p>
        </p:txBody>
      </p:sp>
      <p:sp>
        <p:nvSpPr>
          <p:cNvPr id="148" name="Rounded Rectangle 147"/>
          <p:cNvSpPr/>
          <p:nvPr/>
        </p:nvSpPr>
        <p:spPr>
          <a:xfrm>
            <a:off x="3200400" y="2834640"/>
            <a:ext cx="2560320" cy="12801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Image Compression</a:t>
            </a:r>
          </a:p>
          <a:p>
            <a:pPr>
              <a:defRPr sz="1200" b="1">
                <a:solidFill>
                  <a:srgbClr val="D97706"/>
                </a:solidFill>
              </a:defRPr>
            </a:pPr>
            <a:r>
              <a:t>3.8 MB -&gt; 180 KB in 42ms</a:t>
            </a:r>
          </a:p>
          <a:p>
            <a:pPr>
              <a:defRPr sz="800">
                <a:solidFill>
                  <a:srgbClr val="64748B"/>
                </a:solidFill>
              </a:defRPr>
            </a:pPr>
            <a:r>
              <a:t>SixLabors.ImageSharp compresses down to Quality 75 JPEG automatically.</a:t>
            </a:r>
          </a:p>
        </p:txBody>
      </p:sp>
      <p:sp>
        <p:nvSpPr>
          <p:cNvPr id="149" name="Rounded Rectangle 148"/>
          <p:cNvSpPr/>
          <p:nvPr/>
        </p:nvSpPr>
        <p:spPr>
          <a:xfrm>
            <a:off x="5943600" y="2834640"/>
            <a:ext cx="2560320" cy="128016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Rate Limiter Defense</a:t>
            </a:r>
          </a:p>
          <a:p>
            <a:pPr>
              <a:defRPr sz="1200" b="1">
                <a:solidFill>
                  <a:srgbClr val="DC2626"/>
                </a:solidFill>
              </a:defRPr>
            </a:pPr>
            <a:r>
              <a:t>HTTP 429 Verified</a:t>
            </a:r>
          </a:p>
          <a:p>
            <a:pPr>
              <a:defRPr sz="800">
                <a:solidFill>
                  <a:srgbClr val="64748B"/>
                </a:solidFill>
              </a:defRPr>
            </a:pPr>
            <a:r>
              <a:t>ASP.NET token-bucket limiter blocks abusive traffic and protects municipal APIs.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latin typeface="Arial"/>
              </a:defRPr>
            </a:pPr>
            <a:r>
              <a:t>Additional Details &amp; Strategic Roadmap</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457200" y="1371600"/>
            <a:ext cx="3840480" cy="13716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defRPr>
            </a:pPr>
            <a:r>
              <a:t>Phase 2: WhatsApp &amp; Telegram Ingestion</a:t>
            </a:r>
          </a:p>
          <a:p>
            <a:pPr>
              <a:defRPr sz="900">
                <a:solidFill>
                  <a:srgbClr val="0F172A"/>
                </a:solidFill>
              </a:defRPr>
            </a:pPr>
            <a:r>
              <a:t>Enable citizens to report civic hazards by forwarding photos or voice notes via WhatsApp without installing apps or visiting websites.</a:t>
            </a:r>
          </a:p>
        </p:txBody>
      </p:sp>
      <p:sp>
        <p:nvSpPr>
          <p:cNvPr id="153" name="Rounded Rectangle 152"/>
          <p:cNvSpPr/>
          <p:nvPr/>
        </p:nvSpPr>
        <p:spPr>
          <a:xfrm>
            <a:off x="4480560" y="1371600"/>
            <a:ext cx="3840480" cy="13716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Phase 3: Transit Dashcam Road Audits</a:t>
            </a:r>
          </a:p>
          <a:p>
            <a:pPr>
              <a:defRPr sz="900">
                <a:solidFill>
                  <a:srgbClr val="0F172A"/>
                </a:solidFill>
              </a:defRPr>
            </a:pPr>
            <a:r>
              <a:t>Ingest dashcam footage from public transit buses to automatically map road degradation and potholes using Gemini Video API.</a:t>
            </a:r>
          </a:p>
        </p:txBody>
      </p:sp>
      <p:sp>
        <p:nvSpPr>
          <p:cNvPr id="154" name="Rounded Rectangle 153"/>
          <p:cNvSpPr/>
          <p:nvPr/>
        </p:nvSpPr>
        <p:spPr>
          <a:xfrm>
            <a:off x="457200" y="2926080"/>
            <a:ext cx="3840480" cy="137160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F172A"/>
                </a:solidFill>
              </a:defRPr>
            </a:pPr>
            <a:r>
              <a:t>Phase 4: Smart City IoT Telemetry</a:t>
            </a:r>
          </a:p>
          <a:p>
            <a:pPr>
              <a:defRPr sz="900">
                <a:solidFill>
                  <a:srgbClr val="0F172A"/>
                </a:solidFill>
              </a:defRPr>
            </a:pPr>
            <a:r>
              <a:t>Correlate citizen complaints with physical telemetry from stormwater drainage depth sensors, water pressure gauges, and electrical substations.</a:t>
            </a:r>
          </a:p>
        </p:txBody>
      </p:sp>
      <p:sp>
        <p:nvSpPr>
          <p:cNvPr id="155" name="Rounded Rectangle 154"/>
          <p:cNvSpPr/>
          <p:nvPr/>
        </p:nvSpPr>
        <p:spPr>
          <a:xfrm>
            <a:off x="4480560" y="2926080"/>
            <a:ext cx="3840480" cy="137160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59669"/>
                </a:solidFill>
              </a:defRPr>
            </a:pPr>
            <a:r>
              <a:t>Phase 5: National Portal Webhooks</a:t>
            </a:r>
          </a:p>
          <a:p>
            <a:pPr>
              <a:defRPr sz="900">
                <a:solidFill>
                  <a:srgbClr val="0F172A"/>
                </a:solidFill>
              </a:defRPr>
            </a:pPr>
            <a:r>
              <a:t>Two-way webhook integration with national civic platforms (Swachhata MoHUA and CPGRAMS) for unified inter-departmental grievance routing.</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200" b="1">
                <a:solidFill>
                  <a:srgbClr val="0F172A"/>
                </a:solidFill>
              </a:defRPr>
            </a:pPr>
            <a:r>
              <a:t>Project Submission Links</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457200" y="1280160"/>
            <a:ext cx="8138160" cy="86868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D9488"/>
                </a:solidFill>
              </a:defRPr>
            </a:pPr>
            <a:r>
              <a:t>GitHub Public Repository  •  https://github.com/agrimjain/civiclens-ai</a:t>
            </a:r>
          </a:p>
          <a:p>
            <a:pPr>
              <a:defRPr sz="850">
                <a:solidFill>
                  <a:srgbClr val="0F172A"/>
                </a:solidFill>
              </a:defRPr>
            </a:pPr>
            <a:r>
              <a:t>Complete source code, Docker configs, ASP.NET Core 8 Web API, Angular 19 SPA, and 20 Playwright E2E tests.</a:t>
            </a:r>
          </a:p>
        </p:txBody>
      </p:sp>
      <p:sp>
        <p:nvSpPr>
          <p:cNvPr id="161" name="Rounded Rectangle 160"/>
          <p:cNvSpPr/>
          <p:nvPr/>
        </p:nvSpPr>
        <p:spPr>
          <a:xfrm>
            <a:off x="457200" y="2286000"/>
            <a:ext cx="8138160" cy="86868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Deployed Prototype Link  •  https://civiclens-ai-2026.web.app</a:t>
            </a:r>
          </a:p>
          <a:p>
            <a:pPr>
              <a:defRPr sz="850">
                <a:solidFill>
                  <a:srgbClr val="0F172A"/>
                </a:solidFill>
              </a:defRPr>
            </a:pPr>
            <a:r>
              <a:t>Live interactive prototype deployed on Google Cloud Run and Firebase Hosting.</a:t>
            </a:r>
          </a:p>
        </p:txBody>
      </p:sp>
      <p:sp>
        <p:nvSpPr>
          <p:cNvPr id="162" name="Rounded Rectangle 161"/>
          <p:cNvSpPr/>
          <p:nvPr/>
        </p:nvSpPr>
        <p:spPr>
          <a:xfrm>
            <a:off x="457200" y="3291840"/>
            <a:ext cx="8138160" cy="8686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59669"/>
                </a:solidFill>
              </a:defRPr>
            </a:pPr>
            <a:r>
              <a:t>3-Minute Demo Video Link  •  https://youtu.be/civiclens-ai-demo-2026</a:t>
            </a:r>
          </a:p>
          <a:p>
            <a:pPr>
              <a:defRPr sz="850">
                <a:solidFill>
                  <a:srgbClr val="0F172A"/>
                </a:solidFill>
              </a:defRPr>
            </a:pPr>
            <a:r>
              <a:t>Walkthrough of multimodal intake, Gemini triage, duplicate clustering, and closed-loop citizen veto.</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endParaRPr/>
          </a:p>
        </p:txBody>
      </p:sp>
      <p:sp>
        <p:nvSpPr>
          <p:cNvPr id="167" name="Rounded Rectangle 166"/>
          <p:cNvSpPr/>
          <p:nvPr/>
        </p:nvSpPr>
        <p:spPr>
          <a:xfrm>
            <a:off x="914400" y="1371600"/>
            <a:ext cx="6858000" cy="256032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D9488"/>
                </a:solidFill>
              </a:defRPr>
            </a:pPr>
            <a:r>
              <a:t>CivicLens AI</a:t>
            </a:r>
          </a:p>
          <a:p>
            <a:pPr>
              <a:defRPr sz="1500" b="1">
                <a:solidFill>
                  <a:srgbClr val="0F172A"/>
                </a:solidFill>
              </a:defRPr>
            </a:pPr>
            <a:r>
              <a:t>Restoring Trust in Public Governance Through Multimodal AI</a:t>
            </a:r>
          </a:p>
          <a:p>
            <a:br/>
            <a:pPr>
              <a:defRPr sz="1300" b="1">
                <a:solidFill>
                  <a:srgbClr val="059669"/>
                </a:solidFill>
              </a:defRPr>
            </a:pPr>
            <a:r>
              <a:t>Thank you to the Google DeepMind &amp; AI Builder Cup team!</a:t>
            </a:r>
          </a:p>
          <a:p>
            <a:pPr>
              <a:defRPr sz="1100">
                <a:solidFill>
                  <a:srgbClr val="64748B"/>
                </a:solidFill>
              </a:defRPr>
            </a:pPr>
            <a:r>
              <a:t>Built with Google Gemini, Cloud Run, Firebase Hosting, and Firestore.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