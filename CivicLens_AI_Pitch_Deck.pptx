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D9488"/>
                </a:solidFill>
              </a:defRPr>
            </a:pPr>
            <a:r>
              <a:t>CivicLens AI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Next-Gen Multimodal Civic Incident Intelligence &amp; Accountability Platform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AI Builder Cup 2026 | Category: Sustainability &amp; Social Impact</a:t>
            </a:r>
          </a:p>
          <a:p>
            <a:br/>
            <a:pPr>
              <a:defRPr sz="1200" b="1">
                <a:solidFill>
                  <a:srgbClr val="0F172A"/>
                </a:solidFill>
              </a:defRPr>
            </a:pPr>
            <a:r>
              <a:t>Team Details: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Team Name: CivicLens Innovators (Agrim Jain, Adete Jain)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Team Leader Name: Agrim Jain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Team Members: Agrim Jain, Adete Jain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• Problem Statement: Municipal systems suffer from high reporting friction, overwhelming duplicate backlogs, lack of automated hazard triage, and premature 'ghost ticket resolutions' without verifiable ground truth or citizen veto oversight.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Brief About the Idea — How CivicLens AI Works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7200" y="1280160"/>
            <a:ext cx="393192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Zero-Friction Citizen Ingestion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30-Second Reporting: Citizen captures live camera photo, records voice memo in Hindi or regional tongue, and 1-click pins GPS.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Multimodal Gemini AI: Concurrent audio &amp; visual analysis, standardizing descriptions, identifying hazards, and assigning P1–P4 priorities.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Voice Clarity Nudge Modal: Unclear audio (&lt;4 words or muffled) prompts citizen with 1-click category override dialog.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Life-Safety Crisis Trigger: Distress cues automatically render clickable national helpline buttons (Tele-MANAS 14416, 1091, 1098).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Citizen Audio Playback: Recorded voice notes can be replayed anytime from 'My Requests'.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0" y="1280160"/>
            <a:ext cx="411480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Closed-Loop Municipal Accountability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Spatial Deduplication Engine: Haversine distance (250m) + lexical Jaccard token clustering merges duplicate reports automatically.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Explainable Priority Scoring: Generates plain-language technical justifications for municipal crews (e.g. live wire shock risk).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Mandatory Ground Verification: Field repair crews upload 'after-repair' photos inspected by advisory Gemini AI.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Citizen Veto Reopen Right: If work is substandard or falsified, citizens retain a 1-click dispute right to reopen the case.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Immutable Audit Trail: Chronological event ledger tracking every status change, assignment, and evidence upload.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</a:defRPr>
            </a:pPr>
            <a:r>
              <a:t>Opportunities &amp; Competitive Differentiation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457200" y="1280160"/>
          <a:ext cx="81381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920240"/>
                <a:gridCol w="2560320"/>
              </a:tblGrid>
              <a:tr h="60350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Legacy Portals (Swachhata, 311)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Generic Helpdesk (Zendesk)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CivicLens AI (Our Solution)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Input Modality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Complex text forms, dropdowns, English-centric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Text tickets or email parsers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Camera snapshot, native voice memo (Hindi/10 langs), 1-click GPS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Duplicate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None (separate tickets created for each complaint)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Basic keyword matching on subject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Deterministic Haversine (250m) + Jaccard token clustering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Triage &amp; Routing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Manual sorting taking 48-72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Rule-based keyword triggers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Gemini AI P1-P4 priority scoring with explainable rationale in &lt;2s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Resolution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Contractor marks closed with zero proof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Agent marks 'Resolved' unilaterally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Mandatory Before/After photo proof + 1-Click Citizen Veto right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List of Features Offered by CivicLens AI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457200" y="1280160"/>
            <a:ext cx="393192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Citizen-Facing Capabilities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1-Click Camera &amp; Photo Capture: Direct browser camera or file upload with 2MB bounds and on-the-fly ImageSharp compression.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Multilingual Voice Reporting: Speak naturally in Hindi, Punjabi, Tamil, etc. Transcribed &amp; translated via Gemini.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Voice Clarity Nudge Modal: Unclear audio (&lt;4 words or muffled) prompts citizen with 1-click category override.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Emergency Crisis Hotlines: Distress keywords trigger clickable dial buttons for Tele-MANAS (14416), Women (1091), Child (1098).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Audio Playback: Citizens can replay submitted voice notes from 'My Requests' anytime.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Incident Lifecycle Control: Full edit/delete capability before municipal review; 1-click reopen veto after resolution.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72000" y="1280160"/>
            <a:ext cx="411480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Municipal &amp; Reviewer Console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Deterministic Duplicate Clustering: Automatically links repeat complaints within 250m into parent-child incident clusters.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Explainable Priority Scoring: Gemini AI assigns P1 to P4 with plain-language technical justifications.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Non-Civic Matter Guardrail: Out-of-jurisdiction issues (private domestic disputes) flagged as P4 with non-civic notice tags.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Role-Based Access Control (RBAC): Dedicated portals and route guards for Citizens, Reviewers, and Administrators.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Activity Audit Log: Immutable timestamped trail tracking every status change, assignment, and evidence upload.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Rate Limiting &amp; Security: Token-bucket limiter returning HTTP 429 to protect municipal endpoints from flood attacks.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Process Flow &amp;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572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D9488"/>
                </a:solidFill>
              </a:defRPr>
            </a:pPr>
            <a:r>
              <a:t>1. Ingestion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Citizen captures camera photo, speaks in regional voice, GPS auto-pinned.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2563EB"/>
                </a:solidFill>
              </a:defRPr>
            </a:pPr>
            <a:r>
              <a:t>2. Gemini AI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Multimodal analysis: image hazard detection, voice transcription, P1-P4 priority scoring.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9436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72A"/>
                </a:solidFill>
              </a:defRPr>
            </a:pPr>
            <a:r>
              <a:t>3. Deduplication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Spatial Haversine (250m) + token similarity links repeat complaints automatically.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72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D97706"/>
                </a:solidFill>
              </a:defRPr>
            </a:pPr>
            <a:r>
              <a:t>4. Dispatch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Triage console routes work order to municipal field team with SLA targets.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2004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t>5. Verification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Field team uploads 'after-work' photo; advisory AI inspects ground truth.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9436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DC2626"/>
                </a:solidFill>
              </a:defRPr>
            </a:pPr>
            <a:r>
              <a:t>6. Citizen Veto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Citizen verifies fix. If unsatisfied, 1-click reopen veto escalates to supervisor.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Wireframes &amp; Mock Diagrams of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3840480" cy="2400300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457200" y="3840480"/>
            <a:ext cx="384048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9488"/>
                </a:solidFill>
              </a:defRPr>
            </a:pPr>
            <a:r>
              <a:t>Citizen Multimodal Reporting Screen (/report)</a:t>
            </a:r>
          </a:p>
        </p:txBody>
      </p:sp>
      <p:pic>
        <p:nvPicPr>
          <p:cNvPr id="106" name="Picture 105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1371600"/>
            <a:ext cx="3840480" cy="240030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4572000" y="3840480"/>
            <a:ext cx="384048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Municipal Triage &amp; Review Console (/dashboard)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Cloud Run &amp; Gemini 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Client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Angular 19 SPA</a:t>
            </a:r>
            <a:br/>
            <a:r>
              <a:t>• Standalone Components &amp; Signals</a:t>
            </a:r>
            <a:br/>
            <a:r>
              <a:t>• Native MediaRecorder &amp; Camera</a:t>
            </a:r>
            <a:br/>
            <a:r>
              <a:t>• 10 Regional Languages (i18n)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01168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Edge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Google Firebase Hosting</a:t>
            </a:r>
            <a:br/>
            <a:r>
              <a:t>• Global Low-Latency Edge CDN</a:t>
            </a:r>
            <a:br/>
            <a:r>
              <a:t>• Automated SSL Provisioning</a:t>
            </a:r>
            <a:br/>
            <a:r>
              <a:t>• Zero-Latency /api/* Proxy to Run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65760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Compute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Google Cloud Run</a:t>
            </a:r>
            <a:br/>
            <a:r>
              <a:t>• Containerized ASP.NET Core 8 Web API</a:t>
            </a:r>
            <a:br/>
            <a:r>
              <a:t>• Token-Bucket Rate Limiter (HTTP 429)</a:t>
            </a:r>
            <a:br/>
            <a:r>
              <a:t>• SixLabors.ImageSharp 4.1.3 (2MB Bound)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30352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AI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Google Gemini Multimodal AI</a:t>
            </a:r>
            <a:br/>
            <a:r>
              <a:t>• Gemini 1.5/2.0 Flash &amp; Pro</a:t>
            </a:r>
            <a:br/>
            <a:r>
              <a:t>• Concurrent Audio &amp; Image Ingestion</a:t>
            </a:r>
            <a:br/>
            <a:r>
              <a:t>• Explainable Triage &amp; Crisis Hotlines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94944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Storage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Cloud Firestore &amp; Storage</a:t>
            </a:r>
            <a:br/>
            <a:r>
              <a:t>• Real-Time NoSQL Document DB</a:t>
            </a:r>
            <a:br/>
            <a:r>
              <a:t>• Immutable Audit Event Ledger</a:t>
            </a:r>
            <a:br/>
            <a:r>
              <a:t>• Compressed Photo &amp; Audio Buckets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457200" y="137160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Frontend Application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Angular 19 (TypeScript, Signals)</a:t>
            </a:r>
            <a:br/>
            <a:r>
              <a:t>• RxJS Reactive Streams</a:t>
            </a:r>
            <a:br/>
            <a:r>
              <a:t>• SCSS &amp; Material Round Icons</a:t>
            </a:r>
            <a:br/>
            <a:r>
              <a:t>• Web Speech &amp; MediaStream API</a:t>
            </a:r>
            <a:br/>
            <a:r>
              <a:t>• Playwright E2E Suite (20 Scenarios)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480560" y="137160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Backend &amp; Middleware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C# ASP.NET Core 8 Web API</a:t>
            </a:r>
            <a:br/>
            <a:r>
              <a:t>• Entity Framework Core ORM</a:t>
            </a:r>
            <a:br/>
            <a:r>
              <a:t>• SixLabors.ImageSharp 4.1.3</a:t>
            </a:r>
            <a:br/>
            <a:r>
              <a:t>• ASP.NET Token Rate Limiter</a:t>
            </a:r>
            <a:br/>
            <a:r>
              <a:t>• xUnit Test Suite (35 Unit Tests)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57200" y="292608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Google Cloud &amp; Firebase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Google Cloud Run (Serverless Containers)</a:t>
            </a:r>
            <a:br/>
            <a:r>
              <a:t>• Firebase Hosting (Global CDN Edge)</a:t>
            </a:r>
            <a:br/>
            <a:r>
              <a:t>• Google Cloud Firestore (NoSQL DB)</a:t>
            </a:r>
            <a:br/>
            <a:r>
              <a:t>• Google Cloud Storage (Media Buckets)</a:t>
            </a:r>
            <a:br/>
            <a:r>
              <a:t>• Secret Manager (Encrypted Keys)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480560" y="292608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AI &amp; Multimodal Engine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Google Gemini 1.5/2.0 Flash</a:t>
            </a:r>
            <a:br/>
            <a:r>
              <a:t>• Google Gemini Pro Reasoning</a:t>
            </a:r>
            <a:br/>
            <a:r>
              <a:t>• Haversine Geolocation Engine</a:t>
            </a:r>
            <a:br/>
            <a:r>
              <a:t>• Jaccard Token Set Similarity</a:t>
            </a:r>
            <a:br/>
            <a:r>
              <a:t>• Tele-MANAS &amp; Crisis Trigger Engine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Estimated Implementation Cost &amp; Scaling Economics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457200" y="1280160"/>
          <a:ext cx="8138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920240"/>
                <a:gridCol w="1828800"/>
              </a:tblGrid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Service Component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Usage (10,000 Incidents / Mo)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Unit Pricing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 (USD)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Google Cloud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100,000 API requests, 1 vCPU / 1GB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Free tier covers first 2M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$0.00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Firebase 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10 GB bandwidth, 50k page views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Free tier covers first 10 GB/mo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$0.00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Google Cloud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10,000 compressed photos (2 GB)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$0.020 per GB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$0.04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Cloud Firestore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50,000 document reads, 20k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Free tier covers 50k reads/day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$0.00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Gemini 1.5 Flash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10,000 multimodal requests (~1k tokens)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$0.075 / 1M tokens + $0.00002/img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129" name="Rounded Rectangle 128"/>
          <p:cNvSpPr/>
          <p:nvPr/>
        </p:nvSpPr>
        <p:spPr>
          <a:xfrm>
            <a:off x="457200" y="3474720"/>
            <a:ext cx="8138160" cy="82296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Unit Economic Breakthrough: Less than $0.00022 (~₹0.02) Per Incident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Traditional manual call centers cost $2.50 to $4.00 per complaint. CivicLens AI achieves &gt; 99.9% cost reduction while providing 24/7 vernacular multimodal triage.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Snapshots of the Working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la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2468880" cy="1543050"/>
          </a:xfrm>
          <a:prstGeom prst="rect">
            <a:avLst/>
          </a:prstGeom>
        </p:spPr>
      </p:pic>
      <p:sp>
        <p:nvSpPr>
          <p:cNvPr id="137" name="Rounded Rectangle 136"/>
          <p:cNvSpPr/>
          <p:nvPr/>
        </p:nvSpPr>
        <p:spPr>
          <a:xfrm>
            <a:off x="457200" y="3383280"/>
            <a:ext cx="246888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D9488"/>
                </a:solidFill>
              </a:defRPr>
            </a:pPr>
            <a:r>
              <a:t>1. Landing &amp; 10 Languages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Instant 30s reporting with vernacular language selector.</a:t>
            </a:r>
          </a:p>
        </p:txBody>
      </p:sp>
      <p:pic>
        <p:nvPicPr>
          <p:cNvPr id="138" name="Picture 137" descr="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1371600"/>
            <a:ext cx="2468880" cy="1543050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3200400" y="3383280"/>
            <a:ext cx="246888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2. Multimodal Intake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Camera, audio waveform, 2MB limit badge, and map pin.</a:t>
            </a:r>
          </a:p>
        </p:txBody>
      </p:sp>
      <p:pic>
        <p:nvPicPr>
          <p:cNvPr id="140" name="Picture 139" descr="log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1371600"/>
            <a:ext cx="2286000" cy="1428750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5943600" y="3383280"/>
            <a:ext cx="228600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RBAC Auth Portal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Citizen Register &amp; Reviewer/Admin Staff Portal.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Prototype Performance Report &amp;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4572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Playwright E2E Suite</a:t>
            </a:r>
          </a:p>
          <a:p>
            <a:pPr>
              <a:defRPr sz="1200" b="1">
                <a:solidFill>
                  <a:srgbClr val="059669"/>
                </a:solidFill>
              </a:defRPr>
            </a:pPr>
            <a:r>
              <a:t>20 / 20 Scenarios Passed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100% pass rate in 1.0 min across camera, audio, duplicate detection, and auth.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2004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Backend Unit Tests</a:t>
            </a:r>
          </a:p>
          <a:p>
            <a:pPr>
              <a:defRPr sz="1200" b="1">
                <a:solidFill>
                  <a:srgbClr val="0D9488"/>
                </a:solidFill>
              </a:defRPr>
            </a:pPr>
            <a:r>
              <a:t>35 / 35 Tests Passed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Executed in 442 ms; covers priority rules, duplicate math, and token rate limiting.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9436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Gemini AI Triage Latency</a:t>
            </a:r>
          </a:p>
          <a:p>
            <a:pPr>
              <a:defRPr sz="1200" b="1">
                <a:solidFill>
                  <a:srgbClr val="2563EB"/>
                </a:solidFill>
              </a:defRPr>
            </a:pPr>
            <a:r>
              <a:t>1.2s – 1.8s Round-Trip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Processes audio bytes and pixels concurrently in a single multimodal call.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572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Spatial Deduplication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&lt; 15 ms Execution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Spatial Haversine calculation combined with Jaccard token set intersection.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004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Image Compression</a:t>
            </a:r>
          </a:p>
          <a:p>
            <a:pPr>
              <a:defRPr sz="1200" b="1">
                <a:solidFill>
                  <a:srgbClr val="D97706"/>
                </a:solidFill>
              </a:defRPr>
            </a:pPr>
            <a:r>
              <a:t>3.8 MB -&gt; 180 KB in 42ms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SixLabors.ImageSharp compresses down to Quality 75 JPEG automatically.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9436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Rate Limiter Defense</a:t>
            </a:r>
          </a:p>
          <a:p>
            <a:pPr>
              <a:defRPr sz="1200" b="1">
                <a:solidFill>
                  <a:srgbClr val="DC2626"/>
                </a:solidFill>
              </a:defRPr>
            </a:pPr>
            <a:r>
              <a:t>HTTP 429 Verified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ASP.NET token-bucket limiter blocks abusive traffic and protects municipal APIs.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Additional Details &amp; Strategic 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457200" y="137160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Phase 2: WhatsApp &amp; Telegram Ingestion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Enable citizens to report civic hazards by forwarding photos or voice notes via WhatsApp without installing apps or visiting websites.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80560" y="137160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Phase 3: Transit Dashcam Road Audits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Ingest dashcam footage from public transit buses to automatically map road degradation and potholes using Gemini Video API.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57200" y="292608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Phase 4: Smart City IoT Telemetry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Correlate citizen complaints with physical telemetry from stormwater drainage depth sensors, water pressure gauges, and electrical substations.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480560" y="292608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Phase 5: National Portal Webhooks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Two-way webhook integration with national civic platforms (Swachhata MoHUA and CPGRAMS) for unified inter-departmental grievance routing.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</a:defRPr>
            </a:pPr>
            <a:r>
              <a:t>Project 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457200" y="1280160"/>
            <a:ext cx="81381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GitHub Public Repository  •  https://github.com/agrimjain/civiclens-ai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Complete source code, Docker configs, ASP.NET Core 8 Web API, Angular 19 SPA, and 20 Playwright E2E tests.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57200" y="2286000"/>
            <a:ext cx="81381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Deployed Prototype Link  •  https://civiclens-ai-2026.web.app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Live interactive prototype deployed on Google Cloud Run and Firebase Hosting.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3291840"/>
            <a:ext cx="81381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3-Minute Demo Video Link  •  https://youtu.be/civiclens-ai-demo-2026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Walkthrough of multimodal intake, Gemini triage, duplicate clustering, and closed-loop citizen veto.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Rounded Rectangle 166"/>
          <p:cNvSpPr/>
          <p:nvPr/>
        </p:nvSpPr>
        <p:spPr>
          <a:xfrm>
            <a:off x="914400" y="1371600"/>
            <a:ext cx="6858000" cy="25603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D9488"/>
                </a:solidFill>
              </a:defRPr>
            </a:pPr>
            <a:r>
              <a:t>CivicLens AI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Restoring Trust in Public Governance Through Multimodal AI</a:t>
            </a:r>
          </a:p>
          <a:p>
            <a:br/>
            <a:pPr>
              <a:defRPr sz="1300" b="1">
                <a:solidFill>
                  <a:srgbClr val="059669"/>
                </a:solidFill>
              </a:defRPr>
            </a:pPr>
            <a:r>
              <a:t>Thank you to the Google DeepMind &amp; AI Builder Cup team!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Built with Google Gemini, Cloud Run, Firebase Hosting, and Firestore.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